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8" r:id="rId1"/>
  </p:sldMasterIdLst>
  <p:notesMasterIdLst>
    <p:notesMasterId r:id="rId12"/>
  </p:notesMasterIdLst>
  <p:handoutMasterIdLst>
    <p:handoutMasterId r:id="rId13"/>
  </p:handoutMasterIdLst>
  <p:sldIdLst>
    <p:sldId id="36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1042653175" r:id="rId10"/>
    <p:sldId id="214570869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59" userDrawn="1">
          <p15:clr>
            <a:srgbClr val="A4A3A4"/>
          </p15:clr>
        </p15:guide>
        <p15:guide id="2" orient="horz" pos="890" userDrawn="1">
          <p15:clr>
            <a:srgbClr val="A4A3A4"/>
          </p15:clr>
        </p15:guide>
        <p15:guide id="3" pos="3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70AD47"/>
    <a:srgbClr val="4472C4"/>
    <a:srgbClr val="BA0C2F"/>
    <a:srgbClr val="53585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66F341-3107-494D-BF50-F78E73894A3C}" v="12" dt="2023-08-23T22:43:41.4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32" autoAdjust="0"/>
    <p:restoredTop sz="95753" autoAdjust="0"/>
  </p:normalViewPr>
  <p:slideViewPr>
    <p:cSldViewPr snapToGrid="0" snapToObjects="1">
      <p:cViewPr varScale="1">
        <p:scale>
          <a:sx n="122" d="100"/>
          <a:sy n="122" d="100"/>
        </p:scale>
        <p:origin x="552" y="184"/>
      </p:cViewPr>
      <p:guideLst>
        <p:guide orient="horz" pos="4059"/>
        <p:guide orient="horz" pos="890"/>
        <p:guide pos="3841"/>
      </p:guideLst>
    </p:cSldViewPr>
  </p:slideViewPr>
  <p:outlineViewPr>
    <p:cViewPr>
      <p:scale>
        <a:sx n="33" d="100"/>
        <a:sy n="33" d="100"/>
      </p:scale>
      <p:origin x="0" y="-165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7" d="100"/>
        <a:sy n="87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DF2216-3C6C-5242-8DB2-4752D4FEC615}" type="datetimeFigureOut">
              <a:rPr lang="en-US" smtClean="0">
                <a:latin typeface="Arial"/>
              </a:rPr>
              <a:pPr/>
              <a:t>8/5/26</a:t>
            </a:fld>
            <a:endParaRPr lang="en-US" dirty="0">
              <a:latin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6E00F2-CC6B-3345-A584-44341337AE23}" type="slidenum">
              <a:rPr lang="en-US" smtClean="0">
                <a:latin typeface="Arial"/>
              </a:rPr>
              <a:pPr/>
              <a:t>‹#›</a:t>
            </a:fld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54263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/>
              </a:defRPr>
            </a:lvl1pPr>
          </a:lstStyle>
          <a:p>
            <a:fld id="{2CD6293C-6F3F-374D-A003-D3E152FC3744}" type="datetimeFigureOut">
              <a:rPr lang="en-US" smtClean="0"/>
              <a:pPr/>
              <a:t>8/5/26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/>
              </a:defRPr>
            </a:lvl1pPr>
          </a:lstStyle>
          <a:p>
            <a:fld id="{D389288A-BD78-EC48-81B6-C08E556E160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76020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8" name="Shape 2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lnSpc>
                <a:spcPts val="21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lvl1pPr>
          </a:lstStyle>
          <a:p>
            <a:r>
              <a:t>Also Seasat, JERS-1 and SIR-C, but those are not used much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FC6AE4-6FB8-544F-859E-4EE25E452EA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248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906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68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850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544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1653" y="224448"/>
            <a:ext cx="8833722" cy="60956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869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229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4496E9-FD1F-E897-2571-C68C88D797A0}"/>
              </a:ext>
            </a:extLst>
          </p:cNvPr>
          <p:cNvSpPr/>
          <p:nvPr userDrawn="1"/>
        </p:nvSpPr>
        <p:spPr>
          <a:xfrm>
            <a:off x="1" y="6629400"/>
            <a:ext cx="12192001" cy="228600"/>
          </a:xfrm>
          <a:prstGeom prst="rect">
            <a:avLst/>
          </a:prstGeom>
          <a:solidFill>
            <a:srgbClr val="0166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24E03A-13AB-9E9D-9BBC-E3578B3EBE28}"/>
              </a:ext>
            </a:extLst>
          </p:cNvPr>
          <p:cNvSpPr/>
          <p:nvPr userDrawn="1"/>
        </p:nvSpPr>
        <p:spPr>
          <a:xfrm>
            <a:off x="1" y="6553200"/>
            <a:ext cx="12192001" cy="76200"/>
          </a:xfrm>
          <a:prstGeom prst="rect">
            <a:avLst/>
          </a:prstGeom>
          <a:solidFill>
            <a:srgbClr val="2CC1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38177B-4DB6-E359-09CD-78B3C23FD147}"/>
              </a:ext>
            </a:extLst>
          </p:cNvPr>
          <p:cNvSpPr txBox="1"/>
          <p:nvPr userDrawn="1"/>
        </p:nvSpPr>
        <p:spPr>
          <a:xfrm flipH="1">
            <a:off x="11411107" y="6673996"/>
            <a:ext cx="476092" cy="153888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algn="r"/>
            <a:r>
              <a:rPr lang="en-US" sz="1000" dirty="0">
                <a:solidFill>
                  <a:schemeClr val="bg1"/>
                </a:solidFill>
                <a:latin typeface="Arial Narrow" panose="020B0606020202030204" pitchFamily="34" charset="0"/>
              </a:rPr>
              <a:t>CDR</a:t>
            </a:r>
            <a:r>
              <a:rPr lang="en-US" sz="1000" baseline="0" dirty="0">
                <a:solidFill>
                  <a:schemeClr val="bg1"/>
                </a:solidFill>
                <a:latin typeface="Arial Narrow" panose="020B0606020202030204" pitchFamily="34" charset="0"/>
              </a:rPr>
              <a:t> </a:t>
            </a:r>
            <a:r>
              <a:rPr lang="en-US" sz="1000" dirty="0">
                <a:solidFill>
                  <a:schemeClr val="bg1"/>
                </a:solidFill>
                <a:latin typeface="Arial Narrow" panose="020B0606020202030204" pitchFamily="34" charset="0"/>
              </a:rPr>
              <a:t>6-</a:t>
            </a:r>
            <a:fld id="{DFB6CFB7-B712-4BEC-BB8B-AFD197CBA2BD}" type="slidenum">
              <a:rPr lang="en-US" sz="10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/>
              <a:t>‹#›</a:t>
            </a:fld>
            <a:endParaRPr lang="en-US" sz="10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602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844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070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166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20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" y="6629400"/>
            <a:ext cx="12192001" cy="228600"/>
          </a:xfrm>
          <a:prstGeom prst="rect">
            <a:avLst/>
          </a:prstGeom>
          <a:solidFill>
            <a:srgbClr val="0066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 userDrawn="1"/>
        </p:nvSpPr>
        <p:spPr>
          <a:xfrm>
            <a:off x="1" y="6553200"/>
            <a:ext cx="12192001" cy="76200"/>
          </a:xfrm>
          <a:prstGeom prst="rect">
            <a:avLst/>
          </a:prstGeom>
          <a:solidFill>
            <a:srgbClr val="56B8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 userDrawn="1"/>
        </p:nvCxnSpPr>
        <p:spPr>
          <a:xfrm>
            <a:off x="317933" y="952500"/>
            <a:ext cx="11582400" cy="0"/>
          </a:xfrm>
          <a:prstGeom prst="line">
            <a:avLst/>
          </a:prstGeom>
          <a:ln w="3810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64129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09602" y="149734"/>
            <a:ext cx="10972801" cy="2514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75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308610" indent="0">
              <a:buNone/>
              <a:defRPr sz="750"/>
            </a:lvl2pPr>
            <a:lvl3pPr marL="582930" indent="0">
              <a:buNone/>
              <a:defRPr sz="750"/>
            </a:lvl3pPr>
            <a:lvl4pPr marL="788670" indent="0">
              <a:buNone/>
              <a:defRPr sz="750"/>
            </a:lvl4pPr>
            <a:lvl5pPr marL="994410" indent="0">
              <a:buNone/>
              <a:defRPr sz="750"/>
            </a:lvl5pPr>
          </a:lstStyle>
          <a:p>
            <a:pPr lvl="0"/>
            <a:r>
              <a:rPr lang="en-US" dirty="0"/>
              <a:t>Theme, project, mission or org ID (optional)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8"/>
          </p:nvPr>
        </p:nvSpPr>
        <p:spPr>
          <a:xfrm>
            <a:off x="609601" y="1600201"/>
            <a:ext cx="10972801" cy="4525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9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627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52370"/>
            <a:ext cx="10515600" cy="311624"/>
          </a:xfrm>
        </p:spPr>
        <p:txBody>
          <a:bodyPr anchor="t" anchorCtr="0">
            <a:spAutoFit/>
          </a:bodyPr>
          <a:lstStyle>
            <a:lvl1pPr>
              <a:defRPr sz="225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067800" y="6356356"/>
            <a:ext cx="2743200" cy="365125"/>
          </a:xfrm>
          <a:prstGeom prst="rect">
            <a:avLst/>
          </a:prstGeom>
        </p:spPr>
        <p:txBody>
          <a:bodyPr/>
          <a:lstStyle/>
          <a:p>
            <a:fld id="{786A64DB-DBB3-CA48-993E-0DE1651AF3A6}" type="slidenum">
              <a:rPr lang="en-US" smtClean="0">
                <a:latin typeface="Calibri"/>
              </a:rPr>
              <a:pPr/>
              <a:t>‹#›</a:t>
            </a:fld>
            <a:endParaRPr lang="en-US" dirty="0">
              <a:latin typeface="Calibri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9"/>
          </a:xfrm>
        </p:spPr>
        <p:txBody>
          <a:bodyPr/>
          <a:lstStyle>
            <a:lvl1pPr>
              <a:defRPr>
                <a:solidFill>
                  <a:srgbClr val="244D60"/>
                </a:solidFill>
              </a:defRPr>
            </a:lvl1pPr>
            <a:lvl2pPr>
              <a:defRPr>
                <a:solidFill>
                  <a:srgbClr val="244D60"/>
                </a:solidFill>
              </a:defRPr>
            </a:lvl2pPr>
            <a:lvl3pPr>
              <a:defRPr>
                <a:solidFill>
                  <a:srgbClr val="244D60"/>
                </a:solidFill>
              </a:defRPr>
            </a:lvl3pPr>
            <a:lvl4pPr>
              <a:defRPr b="0">
                <a:solidFill>
                  <a:srgbClr val="244D60"/>
                </a:solidFill>
              </a:defRPr>
            </a:lvl4pPr>
            <a:lvl5pPr>
              <a:defRPr b="0">
                <a:solidFill>
                  <a:srgbClr val="244D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5071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" userDrawn="1">
          <p15:clr>
            <a:srgbClr val="FBAE40"/>
          </p15:clr>
        </p15:guide>
        <p15:guide id="2" pos="512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52370"/>
            <a:ext cx="10515600" cy="311624"/>
          </a:xfrm>
        </p:spPr>
        <p:txBody>
          <a:bodyPr anchor="t" anchorCtr="0">
            <a:spAutoFit/>
          </a:bodyPr>
          <a:lstStyle>
            <a:lvl1pPr>
              <a:defRPr sz="225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067800" y="6356356"/>
            <a:ext cx="2743200" cy="365125"/>
          </a:xfrm>
          <a:prstGeom prst="rect">
            <a:avLst/>
          </a:prstGeom>
        </p:spPr>
        <p:txBody>
          <a:bodyPr/>
          <a:lstStyle/>
          <a:p>
            <a:fld id="{786A64DB-DBB3-CA48-993E-0DE1651AF3A6}" type="slidenum">
              <a:rPr lang="en-US" smtClean="0">
                <a:latin typeface="Calibri"/>
              </a:rPr>
              <a:pPr/>
              <a:t>‹#›</a:t>
            </a:fld>
            <a:endParaRPr lang="en-US" dirty="0">
              <a:latin typeface="Calibri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9"/>
          </a:xfrm>
        </p:spPr>
        <p:txBody>
          <a:bodyPr/>
          <a:lstStyle>
            <a:lvl1pPr>
              <a:defRPr>
                <a:solidFill>
                  <a:srgbClr val="244D60"/>
                </a:solidFill>
              </a:defRPr>
            </a:lvl1pPr>
            <a:lvl2pPr>
              <a:defRPr>
                <a:solidFill>
                  <a:srgbClr val="244D60"/>
                </a:solidFill>
              </a:defRPr>
            </a:lvl2pPr>
            <a:lvl3pPr>
              <a:defRPr>
                <a:solidFill>
                  <a:srgbClr val="244D60"/>
                </a:solidFill>
              </a:defRPr>
            </a:lvl3pPr>
            <a:lvl4pPr>
              <a:defRPr b="0">
                <a:solidFill>
                  <a:srgbClr val="244D60"/>
                </a:solidFill>
              </a:defRPr>
            </a:lvl4pPr>
            <a:lvl5pPr>
              <a:defRPr b="0">
                <a:solidFill>
                  <a:srgbClr val="244D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955968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" userDrawn="1">
          <p15:clr>
            <a:srgbClr val="FBAE40"/>
          </p15:clr>
        </p15:guide>
        <p15:guide id="2" pos="51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6638947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1856" y="219062"/>
            <a:ext cx="7967505" cy="7315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7523" y="142160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237789-6448-FFE5-7983-94F98A0B12DA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3122" y="251602"/>
            <a:ext cx="729971" cy="5760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FD7024-C9EC-C7A9-9C00-48C212C4A7E3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558" y="163830"/>
            <a:ext cx="817035" cy="73152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2403F26-8F6A-B94B-F7ED-CACF2105F7AC}"/>
              </a:ext>
            </a:extLst>
          </p:cNvPr>
          <p:cNvCxnSpPr/>
          <p:nvPr userDrawn="1"/>
        </p:nvCxnSpPr>
        <p:spPr>
          <a:xfrm>
            <a:off x="310804" y="952500"/>
            <a:ext cx="11582400" cy="0"/>
          </a:xfrm>
          <a:prstGeom prst="line">
            <a:avLst/>
          </a:prstGeom>
          <a:ln w="3810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439D7E0B-E5B2-E72B-156E-925D3D6C002F}"/>
              </a:ext>
            </a:extLst>
          </p:cNvPr>
          <p:cNvSpPr/>
          <p:nvPr userDrawn="1"/>
        </p:nvSpPr>
        <p:spPr>
          <a:xfrm>
            <a:off x="1" y="6670040"/>
            <a:ext cx="12192001" cy="228600"/>
          </a:xfrm>
          <a:prstGeom prst="rect">
            <a:avLst/>
          </a:prstGeom>
          <a:solidFill>
            <a:srgbClr val="0166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494ADD-CEC3-4A48-A309-381B0C2103DF}"/>
              </a:ext>
            </a:extLst>
          </p:cNvPr>
          <p:cNvSpPr/>
          <p:nvPr userDrawn="1"/>
        </p:nvSpPr>
        <p:spPr>
          <a:xfrm>
            <a:off x="1" y="6586220"/>
            <a:ext cx="12192001" cy="76200"/>
          </a:xfrm>
          <a:prstGeom prst="rect">
            <a:avLst/>
          </a:prstGeom>
          <a:solidFill>
            <a:srgbClr val="2CC1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C156C94-0F2A-3DDE-3EAD-B6A1D7B93346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845" y="163830"/>
            <a:ext cx="1148278" cy="58704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B74064F-9B8C-F86F-B26A-8D9C1A35850D}"/>
              </a:ext>
            </a:extLst>
          </p:cNvPr>
          <p:cNvSpPr txBox="1"/>
          <p:nvPr userDrawn="1"/>
        </p:nvSpPr>
        <p:spPr>
          <a:xfrm flipH="1">
            <a:off x="11758959" y="6673996"/>
            <a:ext cx="128240" cy="153888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pPr algn="r"/>
            <a:fld id="{DFB6CFB7-B712-4BEC-BB8B-AFD197CBA2BD}" type="slidenum">
              <a:rPr lang="en-US" sz="10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/>
              <a:t>‹#›</a:t>
            </a:fld>
            <a:endParaRPr lang="en-US" sz="10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E32397-B678-2D7F-03A2-43BD9D294E4F}"/>
              </a:ext>
            </a:extLst>
          </p:cNvPr>
          <p:cNvSpPr txBox="1"/>
          <p:nvPr userDrawn="1"/>
        </p:nvSpPr>
        <p:spPr>
          <a:xfrm>
            <a:off x="9427" y="6622836"/>
            <a:ext cx="20838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bg1"/>
                </a:solidFill>
              </a:rPr>
              <a:t>https://</a:t>
            </a:r>
            <a:r>
              <a:rPr lang="en-US" sz="1400" i="1" dirty="0" err="1">
                <a:solidFill>
                  <a:schemeClr val="bg1"/>
                </a:solidFill>
              </a:rPr>
              <a:t>nisar.jpl.nasa.gov</a:t>
            </a:r>
            <a:r>
              <a:rPr lang="en-US" sz="1400" i="1" dirty="0">
                <a:solidFill>
                  <a:schemeClr val="bg1"/>
                </a:solidFill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077786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74" r:id="rId12"/>
    <p:sldLayoutId id="2147483775" r:id="rId13"/>
    <p:sldLayoutId id="2147483776" r:id="rId14"/>
    <p:sldLayoutId id="2147483777" r:id="rId15"/>
    <p:sldLayoutId id="2147483826" r:id="rId16"/>
  </p:sldLayoutIdLst>
  <p:hf hd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2">
              <a:lumMod val="50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4080" userDrawn="1">
          <p15:clr>
            <a:srgbClr val="F26B43"/>
          </p15:clr>
        </p15:guide>
        <p15:guide id="4" pos="192" userDrawn="1">
          <p15:clr>
            <a:srgbClr val="F26B43"/>
          </p15:clr>
        </p15:guide>
        <p15:guide id="5" pos="7488" userDrawn="1">
          <p15:clr>
            <a:srgbClr val="F26B43"/>
          </p15:clr>
        </p15:guide>
        <p15:guide id="6" orient="horz" pos="144" userDrawn="1">
          <p15:clr>
            <a:srgbClr val="F26B43"/>
          </p15:clr>
        </p15:guide>
        <p15:guide id="7" orient="horz" pos="744" userDrawn="1">
          <p15:clr>
            <a:srgbClr val="F26B43"/>
          </p15:clr>
        </p15:guide>
        <p15:guide id="8" orient="horz" pos="4296" userDrawn="1">
          <p15:clr>
            <a:srgbClr val="F26B43"/>
          </p15:clr>
        </p15:guide>
        <p15:guide id="9" orient="horz" pos="2016" userDrawn="1">
          <p15:clr>
            <a:srgbClr val="F26B43"/>
          </p15:clr>
        </p15:guide>
        <p15:guide id="10" orient="horz" pos="600" userDrawn="1">
          <p15:clr>
            <a:srgbClr val="F26B43"/>
          </p15:clr>
        </p15:guide>
        <p15:guide id="11" orient="horz" pos="2304" userDrawn="1">
          <p15:clr>
            <a:srgbClr val="F26B43"/>
          </p15:clr>
        </p15:guide>
        <p15:guide id="12" pos="3904" userDrawn="1">
          <p15:clr>
            <a:srgbClr val="F26B43"/>
          </p15:clr>
        </p15:guide>
        <p15:guide id="13" pos="377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cience.nasa.gov/blogs/nisar/" TargetMode="External"/><Relationship Id="rId2" Type="http://schemas.openxmlformats.org/officeDocument/2006/relationships/hyperlink" Target="https://science.nasa.gov/mission/nisar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cience.nasa.gov/mission/nisar/data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cience.nasa.gov/mission/nisar/sar-education-resources/" TargetMode="External"/><Relationship Id="rId4" Type="http://schemas.openxmlformats.org/officeDocument/2006/relationships/hyperlink" Target="https://github.com/isce-framework/isce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2010_0210_alt-v1rgb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0337" y="0"/>
            <a:ext cx="12262337" cy="6867039"/>
          </a:xfrm>
          <a:prstGeom prst="rect">
            <a:avLst/>
          </a:prstGeom>
        </p:spPr>
      </p:pic>
      <p:sp>
        <p:nvSpPr>
          <p:cNvPr id="5" name="Text Placeholder 1"/>
          <p:cNvSpPr txBox="1">
            <a:spLocks/>
          </p:cNvSpPr>
          <p:nvPr/>
        </p:nvSpPr>
        <p:spPr>
          <a:xfrm>
            <a:off x="816056" y="1539474"/>
            <a:ext cx="9317689" cy="2904789"/>
          </a:xfrm>
          <a:prstGeom prst="rect">
            <a:avLst/>
          </a:prstGeom>
        </p:spPr>
        <p:txBody>
          <a:bodyPr lIns="91418" tIns="45709" rIns="91418" bIns="45709" anchor="t"/>
          <a:lstStyle>
            <a:lvl1pPr marL="0" indent="0" algn="l" defTabSz="457092" rtl="0" eaLnBrk="1" latinLnBrk="0" hangingPunct="1">
              <a:spcBef>
                <a:spcPct val="20000"/>
              </a:spcBef>
              <a:buFont typeface="Arial"/>
              <a:buNone/>
              <a:defRPr sz="28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092" indent="0" algn="l" defTabSz="457092" rtl="0" eaLnBrk="1" latinLnBrk="0" hangingPunct="1">
              <a:spcBef>
                <a:spcPct val="20000"/>
              </a:spcBef>
              <a:buFont typeface="Arial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186" indent="0" algn="l" defTabSz="457092" rtl="0" eaLnBrk="1" latinLnBrk="0" hangingPunct="1">
              <a:spcBef>
                <a:spcPct val="20000"/>
              </a:spcBef>
              <a:buFont typeface="Arial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279" indent="0" algn="l" defTabSz="457092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373" indent="0" algn="l" defTabSz="457092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466" indent="0" algn="l" defTabSz="457092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58" indent="0" algn="l" defTabSz="457092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652" indent="0" algn="l" defTabSz="457092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744" indent="0" algn="l" defTabSz="457092" rtl="0" eaLnBrk="1" latinLnBrk="0" hangingPunct="1">
              <a:spcBef>
                <a:spcPct val="20000"/>
              </a:spcBef>
              <a:buFont typeface="Arial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2060"/>
                </a:solidFill>
              </a:rPr>
              <a:t>SAR Satellites including the NASA-ISRO SAR Mission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2060"/>
                </a:solidFill>
              </a:rPr>
              <a:t>Eric J. Fielding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2060"/>
                </a:solidFill>
              </a:rPr>
              <a:t>with NISAR slides from</a:t>
            </a:r>
          </a:p>
          <a:p>
            <a:r>
              <a:rPr lang="en-US" sz="2000" b="1" dirty="0">
                <a:solidFill>
                  <a:srgbClr val="002060"/>
                </a:solidFill>
              </a:rPr>
              <a:t>Paul A. Rosen, NISAR Team</a:t>
            </a:r>
          </a:p>
          <a:p>
            <a:r>
              <a:rPr lang="en-US" sz="1800" b="1" dirty="0">
                <a:solidFill>
                  <a:srgbClr val="002060"/>
                </a:solidFill>
              </a:rPr>
              <a:t>Jet Propulsion Laboratory</a:t>
            </a:r>
          </a:p>
          <a:p>
            <a:r>
              <a:rPr lang="en-US" sz="1800" b="1" dirty="0">
                <a:solidFill>
                  <a:srgbClr val="002060"/>
                </a:solidFill>
              </a:rPr>
              <a:t>California Institute of Technology</a:t>
            </a:r>
            <a:endParaRPr lang="en-US" sz="1600" b="1" dirty="0">
              <a:solidFill>
                <a:srgbClr val="002060"/>
              </a:solidFill>
            </a:endParaRPr>
          </a:p>
          <a:p>
            <a:endParaRPr lang="en-US" sz="1050" b="1" dirty="0">
              <a:solidFill>
                <a:srgbClr val="002060"/>
              </a:solidFill>
            </a:endParaRPr>
          </a:p>
          <a:p>
            <a:endParaRPr lang="en-US" sz="2000" b="1" dirty="0">
              <a:solidFill>
                <a:srgbClr val="002060"/>
              </a:solidFill>
            </a:endParaRPr>
          </a:p>
          <a:p>
            <a:endParaRPr lang="en-US" sz="2000" b="1" dirty="0">
              <a:solidFill>
                <a:srgbClr val="002060"/>
              </a:solidFill>
            </a:endParaRPr>
          </a:p>
          <a:p>
            <a:endParaRPr lang="en-US" sz="2000" b="1" dirty="0">
              <a:solidFill>
                <a:srgbClr val="002060"/>
              </a:solidFill>
            </a:endParaRPr>
          </a:p>
          <a:p>
            <a:endParaRPr lang="en-US" sz="1800" b="1" dirty="0">
              <a:solidFill>
                <a:srgbClr val="002060"/>
              </a:solidFill>
            </a:endParaRPr>
          </a:p>
          <a:p>
            <a:endParaRPr lang="en-US" sz="1050" b="1" dirty="0">
              <a:solidFill>
                <a:srgbClr val="002060"/>
              </a:solidFill>
            </a:endParaRPr>
          </a:p>
          <a:p>
            <a:endParaRPr lang="en-US" sz="1050" b="1" dirty="0">
              <a:solidFill>
                <a:srgbClr val="002060"/>
              </a:solidFill>
            </a:endParaRPr>
          </a:p>
          <a:p>
            <a:endParaRPr lang="en-US" sz="1050" b="1" dirty="0">
              <a:solidFill>
                <a:srgbClr val="002060"/>
              </a:solidFill>
            </a:endParaRPr>
          </a:p>
          <a:p>
            <a:r>
              <a:rPr lang="en-US" sz="1600" b="1" dirty="0">
                <a:solidFill>
                  <a:schemeClr val="bg1"/>
                </a:solidFill>
              </a:rPr>
              <a:t>2026 </a:t>
            </a:r>
            <a:r>
              <a:rPr lang="en-US" sz="1600" b="1" dirty="0" err="1">
                <a:solidFill>
                  <a:schemeClr val="bg1"/>
                </a:solidFill>
              </a:rPr>
              <a:t>EarthScope</a:t>
            </a:r>
            <a:r>
              <a:rPr lang="en-US" sz="1600" b="1" dirty="0">
                <a:solidFill>
                  <a:schemeClr val="bg1"/>
                </a:solidFill>
              </a:rPr>
              <a:t> InSAR Processing and Analysis (ISCE+)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online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August 6 , 2026</a:t>
            </a:r>
          </a:p>
          <a:p>
            <a:pPr lvl="0"/>
            <a:endParaRPr lang="en-US" sz="1600" b="1" dirty="0">
              <a:solidFill>
                <a:srgbClr val="002060"/>
              </a:solidFill>
            </a:endParaRPr>
          </a:p>
        </p:txBody>
      </p:sp>
      <p:pic>
        <p:nvPicPr>
          <p:cNvPr id="6" name="Picture 5" descr="Tribrand_ColorBlackText_RGB_small_040615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4914" y="499339"/>
            <a:ext cx="3765750" cy="80694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557789" y="6486016"/>
            <a:ext cx="5677469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900" dirty="0">
                <a:solidFill>
                  <a:schemeClr val="bg1"/>
                </a:solidFill>
                <a:latin typeface="Tahoma"/>
                <a:ea typeface="ＭＳ Ｐゴシック" charset="0"/>
                <a:cs typeface="Tahoma"/>
              </a:rPr>
              <a:t>Copyright </a:t>
            </a:r>
            <a:r>
              <a:rPr lang="is-IS" sz="900" dirty="0">
                <a:solidFill>
                  <a:schemeClr val="bg1"/>
                </a:solidFill>
                <a:latin typeface="Tahoma"/>
                <a:ea typeface="ＭＳ Ｐゴシック" charset="0"/>
                <a:cs typeface="Tahoma"/>
              </a:rPr>
              <a:t>2026</a:t>
            </a:r>
            <a:r>
              <a:rPr lang="en-US" sz="900" dirty="0">
                <a:solidFill>
                  <a:schemeClr val="bg1"/>
                </a:solidFill>
                <a:latin typeface="Tahoma"/>
                <a:ea typeface="ＭＳ Ｐゴシック" charset="0"/>
                <a:cs typeface="Tahoma"/>
              </a:rPr>
              <a:t> California Institute of Technology. Government sponsorship acknowledged.</a:t>
            </a:r>
            <a:endParaRPr lang="en-US" sz="900" dirty="0">
              <a:solidFill>
                <a:schemeClr val="bg1"/>
              </a:solidFill>
              <a:latin typeface="Tahoma"/>
              <a:cs typeface="Tahoma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410E01-DF1F-BF5C-E6F9-00543E2F4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4CB1C4-6716-26EF-78BF-7AB8985D0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691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AR satellites"/>
          <p:cNvSpPr txBox="1">
            <a:spLocks noGrp="1"/>
          </p:cNvSpPr>
          <p:nvPr>
            <p:ph type="title"/>
          </p:nvPr>
        </p:nvSpPr>
        <p:spPr>
          <a:xfrm>
            <a:off x="2416969" y="-26789"/>
            <a:ext cx="7358063" cy="1026914"/>
          </a:xfrm>
          <a:prstGeom prst="rect">
            <a:avLst/>
          </a:prstGeom>
        </p:spPr>
        <p:txBody>
          <a:bodyPr/>
          <a:lstStyle>
            <a:lvl1pPr>
              <a:spcBef>
                <a:spcPts val="200"/>
              </a:spcBef>
            </a:lvl1pPr>
          </a:lstStyle>
          <a:p>
            <a:r>
              <a:rPr lang="en-US"/>
              <a:t>Classic </a:t>
            </a:r>
            <a:r>
              <a:t>SAR </a:t>
            </a:r>
            <a:r>
              <a:rPr dirty="0"/>
              <a:t>satellites</a:t>
            </a:r>
          </a:p>
        </p:txBody>
      </p:sp>
      <p:graphicFrame>
        <p:nvGraphicFramePr>
          <p:cNvPr id="26" name="Table 1"/>
          <p:cNvGraphicFramePr/>
          <p:nvPr>
            <p:extLst>
              <p:ext uri="{D42A27DB-BD31-4B8C-83A1-F6EECF244321}">
                <p14:modId xmlns:p14="http://schemas.microsoft.com/office/powerpoint/2010/main" val="1063369255"/>
              </p:ext>
            </p:extLst>
          </p:nvPr>
        </p:nvGraphicFramePr>
        <p:xfrm>
          <a:off x="1324303" y="1000125"/>
          <a:ext cx="9685841" cy="5703545"/>
        </p:xfrm>
        <a:graphic>
          <a:graphicData uri="http://schemas.openxmlformats.org/drawingml/2006/table">
            <a:tbl>
              <a:tblPr bandRow="1"/>
              <a:tblGrid>
                <a:gridCol w="69173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8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96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0621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1066800" algn="l"/>
                          <a:tab pos="9105900" algn="l"/>
                        </a:tabLst>
                        <a:defRPr sz="3200">
                          <a:solidFill>
                            <a:srgbClr val="9A6947"/>
                          </a:solidFill>
                        </a:defRPr>
                      </a:pPr>
                      <a:r>
                        <a:rPr lang="en-US" sz="2000" dirty="0"/>
                        <a:t>Satellite</a:t>
                      </a:r>
                      <a:endParaRPr sz="2000" dirty="0"/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803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>
                          <a:solidFill>
                            <a:srgbClr val="9A6947"/>
                          </a:solidFill>
                        </a:rPr>
                        <a:t>repeat
cycle
(days)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701800" algn="l"/>
                        </a:tabLst>
                        <a:defRPr sz="3900">
                          <a:solidFill>
                            <a:srgbClr val="9A6947"/>
                          </a:solidFill>
                        </a:defRPr>
                      </a:pPr>
                      <a:r>
                        <a:rPr sz="2000" dirty="0"/>
                        <a:t>wave-length</a:t>
                      </a:r>
                    </a:p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701800" algn="l"/>
                        </a:tabLst>
                        <a:defRPr sz="4200">
                          <a:solidFill>
                            <a:srgbClr val="9A6947"/>
                          </a:solidFill>
                        </a:defRPr>
                      </a:pPr>
                      <a:r>
                        <a:rPr sz="2000" dirty="0"/>
                        <a:t>(cm)</a:t>
                      </a:r>
                    </a:p>
                  </a:txBody>
                  <a:tcPr marL="17859" marR="17859" marT="17859" marB="1785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5110">
                <a:tc>
                  <a:txBody>
                    <a:bodyPr/>
                    <a:lstStyle/>
                    <a:p>
                      <a:pPr marL="152400" marR="50800" algn="l">
                        <a:lnSpc>
                          <a:spcPct val="100000"/>
                        </a:lnSpc>
                        <a:tabLst>
                          <a:tab pos="800100" algn="l"/>
                          <a:tab pos="91059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>
                          <a:solidFill>
                            <a:srgbClr val="9A6947"/>
                          </a:solidFill>
                        </a:rPr>
                        <a:t>European ERS-1/ERS-2 ‘92-’01(-2011)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803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9A6947"/>
                          </a:solidFill>
                        </a:rPr>
                        <a:t>35 (1,3,183)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7018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>
                          <a:solidFill>
                            <a:srgbClr val="9A6947"/>
                          </a:solidFill>
                        </a:rPr>
                        <a:t>6</a:t>
                      </a:r>
                    </a:p>
                  </a:txBody>
                  <a:tcPr marL="17859" marR="17859" marT="17859" marB="1785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152400" marR="50800" algn="l">
                        <a:lnSpc>
                          <a:spcPct val="100000"/>
                        </a:lnSpc>
                        <a:tabLst>
                          <a:tab pos="800100" algn="l"/>
                          <a:tab pos="91059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>
                          <a:solidFill>
                            <a:srgbClr val="9A6947"/>
                          </a:solidFill>
                        </a:rPr>
                        <a:t>Canadian Radarsat-1 1995-2013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803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9A6947"/>
                          </a:solidFill>
                        </a:rPr>
                        <a:t>24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7018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9A6947"/>
                          </a:solidFill>
                        </a:rPr>
                        <a:t>6</a:t>
                      </a:r>
                    </a:p>
                  </a:txBody>
                  <a:tcPr marL="17859" marR="17859" marT="17859" marB="1785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6825">
                <a:tc>
                  <a:txBody>
                    <a:bodyPr/>
                    <a:lstStyle/>
                    <a:p>
                      <a:pPr marL="152400" marR="50800" algn="l">
                        <a:lnSpc>
                          <a:spcPct val="100000"/>
                        </a:lnSpc>
                        <a:tabLst>
                          <a:tab pos="800100" algn="l"/>
                          <a:tab pos="91059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>
                          <a:solidFill>
                            <a:srgbClr val="9A6947"/>
                          </a:solidFill>
                        </a:rPr>
                        <a:t>European Envisat ‘03-Sep.’10(‘10-Apr.’12)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803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9A6947"/>
                          </a:solidFill>
                        </a:rPr>
                        <a:t>35 (30)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7018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9A6947"/>
                          </a:solidFill>
                        </a:rPr>
                        <a:t>6</a:t>
                      </a:r>
                    </a:p>
                  </a:txBody>
                  <a:tcPr marL="17859" marR="17859" marT="17859" marB="1785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6834">
                <a:tc>
                  <a:txBody>
                    <a:bodyPr/>
                    <a:lstStyle/>
                    <a:p>
                      <a:pPr marL="152400" marR="50800" algn="l">
                        <a:lnSpc>
                          <a:spcPct val="100000"/>
                        </a:lnSpc>
                        <a:tabLst>
                          <a:tab pos="800100" algn="l"/>
                          <a:tab pos="91059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>
                          <a:solidFill>
                            <a:srgbClr val="9A6947"/>
                          </a:solidFill>
                        </a:rPr>
                        <a:t>Japanese ALOS Jan. 2006–Apr. 2011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803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9A6947"/>
                          </a:solidFill>
                        </a:rPr>
                        <a:t>46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7018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9A6947"/>
                          </a:solidFill>
                        </a:rPr>
                        <a:t>24</a:t>
                      </a:r>
                    </a:p>
                  </a:txBody>
                  <a:tcPr marL="17859" marR="17859" marT="17859" marB="1785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6821">
                <a:tc>
                  <a:txBody>
                    <a:bodyPr/>
                    <a:lstStyle/>
                    <a:p>
                      <a:pPr marL="152400" marR="50800" algn="l">
                        <a:lnSpc>
                          <a:spcPct val="100000"/>
                        </a:lnSpc>
                        <a:tabLst>
                          <a:tab pos="800100" algn="l"/>
                          <a:tab pos="91059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>
                          <a:solidFill>
                            <a:srgbClr val="9A6947"/>
                          </a:solidFill>
                        </a:rPr>
                        <a:t>German </a:t>
                      </a:r>
                      <a:r>
                        <a:rPr sz="2000" dirty="0" err="1">
                          <a:solidFill>
                            <a:srgbClr val="9A6947"/>
                          </a:solidFill>
                        </a:rPr>
                        <a:t>TerraSAR</a:t>
                      </a:r>
                      <a:r>
                        <a:rPr sz="2000" dirty="0">
                          <a:solidFill>
                            <a:srgbClr val="9A6947"/>
                          </a:solidFill>
                        </a:rPr>
                        <a:t>-X ’07, </a:t>
                      </a:r>
                      <a:r>
                        <a:rPr sz="2000" dirty="0" err="1">
                          <a:solidFill>
                            <a:srgbClr val="9A6947"/>
                          </a:solidFill>
                        </a:rPr>
                        <a:t>TanDEM</a:t>
                      </a:r>
                      <a:r>
                        <a:rPr sz="2000" dirty="0">
                          <a:solidFill>
                            <a:srgbClr val="9A6947"/>
                          </a:solidFill>
                        </a:rPr>
                        <a:t>-X ‘10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803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>
                          <a:solidFill>
                            <a:srgbClr val="9A6947"/>
                          </a:solidFill>
                        </a:rPr>
                        <a:t>11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7018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9A6947"/>
                          </a:solidFill>
                        </a:rPr>
                        <a:t>3</a:t>
                      </a:r>
                    </a:p>
                  </a:txBody>
                  <a:tcPr marL="17859" marR="17859" marT="17859" marB="17859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85110">
                <a:tc>
                  <a:txBody>
                    <a:bodyPr/>
                    <a:lstStyle/>
                    <a:p>
                      <a:pPr marL="152400" marR="50800" algn="l">
                        <a:lnSpc>
                          <a:spcPct val="100000"/>
                        </a:lnSpc>
                        <a:tabLst>
                          <a:tab pos="800100" algn="l"/>
                          <a:tab pos="91059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spc="-39" dirty="0">
                          <a:solidFill>
                            <a:srgbClr val="9A6947"/>
                          </a:solidFill>
                        </a:rPr>
                        <a:t>Italian COSMO-</a:t>
                      </a:r>
                      <a:r>
                        <a:rPr sz="2000" spc="-39" dirty="0" err="1">
                          <a:solidFill>
                            <a:srgbClr val="9A6947"/>
                          </a:solidFill>
                        </a:rPr>
                        <a:t>SkyMed</a:t>
                      </a:r>
                      <a:r>
                        <a:rPr sz="2000" spc="-39" dirty="0">
                          <a:solidFill>
                            <a:srgbClr val="9A6947"/>
                          </a:solidFill>
                        </a:rPr>
                        <a:t> 4x launch</a:t>
                      </a:r>
                      <a:r>
                        <a:rPr lang="en-US" sz="2000" spc="-39" dirty="0">
                          <a:solidFill>
                            <a:srgbClr val="9A6947"/>
                          </a:solidFill>
                        </a:rPr>
                        <a:t>ed</a:t>
                      </a:r>
                      <a:r>
                        <a:rPr sz="2000" spc="-39" dirty="0">
                          <a:solidFill>
                            <a:srgbClr val="9A6947"/>
                          </a:solidFill>
                        </a:rPr>
                        <a:t> ‘07-’10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803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>
                          <a:solidFill>
                            <a:srgbClr val="9A6947"/>
                          </a:solidFill>
                        </a:rPr>
                        <a:t>16 (1,4,7,8)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7018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>
                          <a:solidFill>
                            <a:srgbClr val="9A6947"/>
                          </a:solidFill>
                        </a:rPr>
                        <a:t>3</a:t>
                      </a:r>
                    </a:p>
                  </a:txBody>
                  <a:tcPr marL="17859" marR="17859" marT="17859" marB="17859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6111">
                <a:tc>
                  <a:txBody>
                    <a:bodyPr/>
                    <a:lstStyle/>
                    <a:p>
                      <a:pPr marL="152400" marR="50800" algn="l">
                        <a:lnSpc>
                          <a:spcPct val="100000"/>
                        </a:lnSpc>
                        <a:tabLst>
                          <a:tab pos="800100" algn="l"/>
                          <a:tab pos="91059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>
                          <a:solidFill>
                            <a:srgbClr val="9A6947"/>
                          </a:solidFill>
                        </a:rPr>
                        <a:t>Canadian Radarsat-2 launched Dec. 2007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803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>
                          <a:solidFill>
                            <a:srgbClr val="9A6947"/>
                          </a:solidFill>
                        </a:rPr>
                        <a:t>24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7018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>
                          <a:solidFill>
                            <a:srgbClr val="9A6947"/>
                          </a:solidFill>
                        </a:rPr>
                        <a:t>6</a:t>
                      </a:r>
                    </a:p>
                  </a:txBody>
                  <a:tcPr marL="17859" marR="17859" marT="17859" marB="17859"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B49EF7-55EE-87D4-099D-D0C6C391689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AR satellites processing"/>
          <p:cNvSpPr txBox="1">
            <a:spLocks noGrp="1"/>
          </p:cNvSpPr>
          <p:nvPr>
            <p:ph type="title"/>
          </p:nvPr>
        </p:nvSpPr>
        <p:spPr>
          <a:xfrm>
            <a:off x="2416969" y="-26789"/>
            <a:ext cx="7358063" cy="1026914"/>
          </a:xfrm>
          <a:prstGeom prst="rect">
            <a:avLst/>
          </a:prstGeom>
        </p:spPr>
        <p:txBody>
          <a:bodyPr/>
          <a:lstStyle>
            <a:lvl1pPr>
              <a:spcBef>
                <a:spcPts val="200"/>
              </a:spcBef>
            </a:lvl1pPr>
          </a:lstStyle>
          <a:p>
            <a:r>
              <a:t>SAR satellites processing</a:t>
            </a:r>
          </a:p>
        </p:txBody>
      </p:sp>
      <p:graphicFrame>
        <p:nvGraphicFramePr>
          <p:cNvPr id="31" name="Table 1"/>
          <p:cNvGraphicFramePr/>
          <p:nvPr>
            <p:extLst>
              <p:ext uri="{D42A27DB-BD31-4B8C-83A1-F6EECF244321}">
                <p14:modId xmlns:p14="http://schemas.microsoft.com/office/powerpoint/2010/main" val="47051563"/>
              </p:ext>
            </p:extLst>
          </p:nvPr>
        </p:nvGraphicFramePr>
        <p:xfrm>
          <a:off x="1657946" y="848321"/>
          <a:ext cx="8876110" cy="5852884"/>
        </p:xfrm>
        <a:graphic>
          <a:graphicData uri="http://schemas.openxmlformats.org/drawingml/2006/table">
            <a:tbl>
              <a:tblPr bandRow="1"/>
              <a:tblGrid>
                <a:gridCol w="28932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25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87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1066800" algn="l"/>
                          <a:tab pos="9105900" algn="l"/>
                        </a:tabLst>
                        <a:defRPr sz="3200">
                          <a:solidFill>
                            <a:srgbClr val="9A6947"/>
                          </a:solidFill>
                        </a:defRPr>
                      </a:pPr>
                      <a:r>
                        <a:rPr lang="en-US" sz="2000" dirty="0"/>
                        <a:t>satellite</a:t>
                      </a:r>
                      <a:endParaRPr sz="2000" dirty="0"/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803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9A6947"/>
                          </a:solidFill>
                        </a:rPr>
                        <a:t>Modes</a:t>
                      </a: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7018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>
                          <a:solidFill>
                            <a:srgbClr val="9A6947"/>
                          </a:solidFill>
                        </a:rPr>
                        <a:t>ISCE2 proc</a:t>
                      </a:r>
                      <a:r>
                        <a:rPr lang="en-US" sz="2000" dirty="0">
                          <a:solidFill>
                            <a:srgbClr val="9A6947"/>
                          </a:solidFill>
                        </a:rPr>
                        <a:t>essing support?</a:t>
                      </a:r>
                      <a:endParaRPr sz="2000" dirty="0">
                        <a:solidFill>
                          <a:srgbClr val="9A6947"/>
                        </a:solidFill>
                      </a:endParaRP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713">
                <a:tc>
                  <a:txBody>
                    <a:bodyPr/>
                    <a:lstStyle/>
                    <a:p>
                      <a:pPr marL="152400" marR="50800" algn="l">
                        <a:lnSpc>
                          <a:spcPct val="100000"/>
                        </a:lnSpc>
                        <a:tabLst>
                          <a:tab pos="800100" algn="l"/>
                          <a:tab pos="91059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>
                          <a:solidFill>
                            <a:srgbClr val="9A6947"/>
                          </a:solidFill>
                        </a:rPr>
                        <a:t>ERS-1/ERS-2</a:t>
                      </a: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803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9A6947"/>
                          </a:solidFill>
                        </a:rPr>
                        <a:t>1 strip map</a:t>
                      </a: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7018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>
                          <a:solidFill>
                            <a:srgbClr val="9A6947"/>
                          </a:solidFill>
                        </a:rPr>
                        <a:t>yes raw, SLC</a:t>
                      </a: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606">
                <a:tc>
                  <a:txBody>
                    <a:bodyPr/>
                    <a:lstStyle/>
                    <a:p>
                      <a:pPr marL="152400" marR="50800" algn="l">
                        <a:lnSpc>
                          <a:spcPct val="100000"/>
                        </a:lnSpc>
                        <a:tabLst>
                          <a:tab pos="800100" algn="l"/>
                          <a:tab pos="91059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>
                          <a:solidFill>
                            <a:srgbClr val="9A6947"/>
                          </a:solidFill>
                        </a:rPr>
                        <a:t>RADARSAT-1</a:t>
                      </a: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803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>
                          <a:solidFill>
                            <a:srgbClr val="9A6947"/>
                          </a:solidFill>
                        </a:rPr>
                        <a:t>7 standard strip
5 fine strip
</a:t>
                      </a:r>
                      <a:r>
                        <a:rPr sz="2000" dirty="0" err="1">
                          <a:solidFill>
                            <a:srgbClr val="9A6947"/>
                          </a:solidFill>
                        </a:rPr>
                        <a:t>ScanSAR</a:t>
                      </a:r>
                      <a:endParaRPr sz="2000" dirty="0">
                        <a:solidFill>
                          <a:srgbClr val="9A6947"/>
                        </a:solidFill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7018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>
                          <a:solidFill>
                            <a:srgbClr val="9A6947"/>
                          </a:solidFill>
                        </a:rPr>
                        <a:t>strip: maybe CEOS raw
</a:t>
                      </a:r>
                      <a:r>
                        <a:rPr sz="2000" dirty="0" err="1">
                          <a:solidFill>
                            <a:srgbClr val="9A6947"/>
                          </a:solidFill>
                        </a:rPr>
                        <a:t>ScanSAR</a:t>
                      </a:r>
                      <a:r>
                        <a:rPr sz="2000" dirty="0">
                          <a:solidFill>
                            <a:srgbClr val="9A6947"/>
                          </a:solidFill>
                        </a:rPr>
                        <a:t>: no</a:t>
                      </a: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877">
                <a:tc>
                  <a:txBody>
                    <a:bodyPr/>
                    <a:lstStyle/>
                    <a:p>
                      <a:pPr marL="152400" marR="50800" algn="l">
                        <a:lnSpc>
                          <a:spcPct val="100000"/>
                        </a:lnSpc>
                        <a:tabLst>
                          <a:tab pos="800100" algn="l"/>
                          <a:tab pos="91059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9A6947"/>
                          </a:solidFill>
                        </a:rPr>
                        <a:t>Envisat</a:t>
                      </a: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803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>
                          <a:solidFill>
                            <a:srgbClr val="9A6947"/>
                          </a:solidFill>
                        </a:rPr>
                        <a:t>7 standard strip (IM)
</a:t>
                      </a:r>
                      <a:r>
                        <a:rPr sz="2000" dirty="0" err="1">
                          <a:solidFill>
                            <a:srgbClr val="9A6947"/>
                          </a:solidFill>
                        </a:rPr>
                        <a:t>ScanSAR</a:t>
                      </a:r>
                      <a:r>
                        <a:rPr sz="2000" dirty="0">
                          <a:solidFill>
                            <a:srgbClr val="9A6947"/>
                          </a:solidFill>
                        </a:rPr>
                        <a:t> (WS)</a:t>
                      </a: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7018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>
                          <a:solidFill>
                            <a:srgbClr val="9A6947"/>
                          </a:solidFill>
                        </a:rPr>
                        <a:t>strip: yes raw, SLC
</a:t>
                      </a:r>
                      <a:r>
                        <a:rPr sz="2000" dirty="0" err="1">
                          <a:solidFill>
                            <a:srgbClr val="9A6947"/>
                          </a:solidFill>
                        </a:rPr>
                        <a:t>ScanSAR</a:t>
                      </a:r>
                      <a:r>
                        <a:rPr sz="2000" dirty="0">
                          <a:solidFill>
                            <a:srgbClr val="9A6947"/>
                          </a:solidFill>
                        </a:rPr>
                        <a:t>: no</a:t>
                      </a: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3966">
                <a:tc>
                  <a:txBody>
                    <a:bodyPr/>
                    <a:lstStyle/>
                    <a:p>
                      <a:pPr marL="152400" marR="50800" algn="l">
                        <a:lnSpc>
                          <a:spcPct val="100000"/>
                        </a:lnSpc>
                        <a:tabLst>
                          <a:tab pos="800100" algn="l"/>
                          <a:tab pos="91059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9A6947"/>
                          </a:solidFill>
                        </a:rPr>
                        <a:t>ALOS</a:t>
                      </a: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803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>
                          <a:solidFill>
                            <a:srgbClr val="9A6947"/>
                          </a:solidFill>
                        </a:rPr>
                        <a:t>strip FBS, FBD, POL
</a:t>
                      </a:r>
                      <a:r>
                        <a:rPr sz="2000" dirty="0" err="1">
                          <a:solidFill>
                            <a:srgbClr val="9A6947"/>
                          </a:solidFill>
                        </a:rPr>
                        <a:t>ScanSAR</a:t>
                      </a:r>
                      <a:endParaRPr sz="2000" dirty="0">
                        <a:solidFill>
                          <a:srgbClr val="9A6947"/>
                        </a:solidFill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7018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9A6947"/>
                          </a:solidFill>
                        </a:rPr>
                        <a:t>strip: yes raw, SLC
ScanSAR: no</a:t>
                      </a: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32470">
                <a:tc>
                  <a:txBody>
                    <a:bodyPr/>
                    <a:lstStyle/>
                    <a:p>
                      <a:pPr marL="152400" marR="50800" algn="l">
                        <a:lnSpc>
                          <a:spcPct val="100000"/>
                        </a:lnSpc>
                        <a:tabLst>
                          <a:tab pos="800100" algn="l"/>
                          <a:tab pos="91059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 err="1">
                          <a:solidFill>
                            <a:srgbClr val="9A6947"/>
                          </a:solidFill>
                        </a:rPr>
                        <a:t>TerraSAR</a:t>
                      </a:r>
                      <a:r>
                        <a:rPr sz="2000" dirty="0">
                          <a:solidFill>
                            <a:srgbClr val="9A6947"/>
                          </a:solidFill>
                        </a:rPr>
                        <a:t>-X</a:t>
                      </a:r>
                      <a:r>
                        <a:rPr lang="en-US" sz="2000" dirty="0">
                          <a:solidFill>
                            <a:srgbClr val="9A6947"/>
                          </a:solidFill>
                        </a:rPr>
                        <a:t>, PAZ</a:t>
                      </a:r>
                      <a:endParaRPr sz="2000" dirty="0">
                        <a:solidFill>
                          <a:srgbClr val="9A6947"/>
                        </a:solidFill>
                      </a:endParaRP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803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>
                          <a:solidFill>
                            <a:srgbClr val="9A6947"/>
                          </a:solidFill>
                        </a:rPr>
                        <a:t>strip
</a:t>
                      </a:r>
                      <a:r>
                        <a:rPr sz="2000" dirty="0" err="1">
                          <a:solidFill>
                            <a:srgbClr val="9A6947"/>
                          </a:solidFill>
                        </a:rPr>
                        <a:t>ScanSAR</a:t>
                      </a:r>
                      <a:r>
                        <a:rPr sz="2000" dirty="0">
                          <a:solidFill>
                            <a:srgbClr val="9A6947"/>
                          </a:solidFill>
                        </a:rPr>
                        <a:t>
Spotlight</a:t>
                      </a: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7018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9A6947"/>
                          </a:solidFill>
                        </a:rPr>
                        <a:t>strip: SLC
ScanSAR: no
Spotlight: SLC</a:t>
                      </a: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0877">
                <a:tc>
                  <a:txBody>
                    <a:bodyPr/>
                    <a:lstStyle/>
                    <a:p>
                      <a:pPr marL="152400" marR="50800" algn="l">
                        <a:lnSpc>
                          <a:spcPct val="100000"/>
                        </a:lnSpc>
                        <a:tabLst>
                          <a:tab pos="800100" algn="l"/>
                          <a:tab pos="91059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spc="-39">
                          <a:solidFill>
                            <a:srgbClr val="9A6947"/>
                          </a:solidFill>
                        </a:rPr>
                        <a:t>COSMO/SkyMed</a:t>
                      </a: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803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>
                          <a:solidFill>
                            <a:srgbClr val="9A6947"/>
                          </a:solidFill>
                        </a:rPr>
                        <a:t>strip, </a:t>
                      </a:r>
                      <a:r>
                        <a:rPr sz="2000" dirty="0" err="1">
                          <a:solidFill>
                            <a:srgbClr val="9A6947"/>
                          </a:solidFill>
                        </a:rPr>
                        <a:t>ScanSAR</a:t>
                      </a:r>
                      <a:r>
                        <a:rPr sz="2000" dirty="0">
                          <a:solidFill>
                            <a:srgbClr val="9A6947"/>
                          </a:solidFill>
                        </a:rPr>
                        <a:t>, Spotlight</a:t>
                      </a: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7018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>
                          <a:solidFill>
                            <a:srgbClr val="9A6947"/>
                          </a:solidFill>
                        </a:rPr>
                        <a:t>strip: raw, SLC
Spotlight: SLC</a:t>
                      </a: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00877">
                <a:tc>
                  <a:txBody>
                    <a:bodyPr/>
                    <a:lstStyle/>
                    <a:p>
                      <a:pPr marL="152400" marR="50800" algn="l">
                        <a:lnSpc>
                          <a:spcPct val="100000"/>
                        </a:lnSpc>
                        <a:tabLst>
                          <a:tab pos="800100" algn="l"/>
                          <a:tab pos="91059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9A6947"/>
                          </a:solidFill>
                        </a:rPr>
                        <a:t>RADARSAT-2</a:t>
                      </a: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803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9A6947"/>
                          </a:solidFill>
                        </a:rPr>
                        <a:t>strip (4 types), ScanSAR, Spotlight</a:t>
                      </a: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7018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>
                          <a:solidFill>
                            <a:srgbClr val="9A6947"/>
                          </a:solidFill>
                        </a:rPr>
                        <a:t>strip: SLC
Spotlight: ?</a:t>
                      </a: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9A4334-FE5C-15E2-CC2D-5C730CA7316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ther SAR spacecraft"/>
          <p:cNvSpPr txBox="1">
            <a:spLocks noGrp="1"/>
          </p:cNvSpPr>
          <p:nvPr>
            <p:ph type="title"/>
          </p:nvPr>
        </p:nvSpPr>
        <p:spPr>
          <a:xfrm>
            <a:off x="2416969" y="-26789"/>
            <a:ext cx="7358063" cy="1026914"/>
          </a:xfrm>
          <a:prstGeom prst="rect">
            <a:avLst/>
          </a:prstGeom>
        </p:spPr>
        <p:txBody>
          <a:bodyPr/>
          <a:lstStyle>
            <a:lvl1pPr>
              <a:spcBef>
                <a:spcPts val="200"/>
              </a:spcBef>
            </a:lvl1pPr>
          </a:lstStyle>
          <a:p>
            <a:r>
              <a:t>other SAR spacecraft</a:t>
            </a:r>
          </a:p>
        </p:txBody>
      </p:sp>
      <p:graphicFrame>
        <p:nvGraphicFramePr>
          <p:cNvPr id="34" name="Table 1"/>
          <p:cNvGraphicFramePr/>
          <p:nvPr>
            <p:extLst>
              <p:ext uri="{D42A27DB-BD31-4B8C-83A1-F6EECF244321}">
                <p14:modId xmlns:p14="http://schemas.microsoft.com/office/powerpoint/2010/main" val="1086495026"/>
              </p:ext>
            </p:extLst>
          </p:nvPr>
        </p:nvGraphicFramePr>
        <p:xfrm>
          <a:off x="1657946" y="1107281"/>
          <a:ext cx="9346385" cy="5555752"/>
        </p:xfrm>
        <a:graphic>
          <a:graphicData uri="http://schemas.openxmlformats.org/drawingml/2006/table">
            <a:tbl>
              <a:tblPr/>
              <a:tblGrid>
                <a:gridCol w="6603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6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7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98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1066800" algn="l"/>
                          <a:tab pos="9105900" algn="l"/>
                        </a:tabLst>
                        <a:defRPr sz="3200">
                          <a:solidFill>
                            <a:srgbClr val="9A6947"/>
                          </a:solidFill>
                        </a:defRPr>
                      </a:pPr>
                      <a:r>
                        <a:rPr lang="en-US" sz="2400" dirty="0"/>
                        <a:t>Satellite</a:t>
                      </a:r>
                      <a:endParaRPr sz="2400" dirty="0"/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803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9A6947"/>
                          </a:solidFill>
                        </a:rPr>
                        <a:t>repeat
cycle
(days)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7018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9A6947"/>
                          </a:solidFill>
                        </a:rPr>
                        <a:t>wave-length
(cm)</a:t>
                      </a:r>
                    </a:p>
                  </a:txBody>
                  <a:tcPr marL="17859" marR="17859" marT="17859" marB="1785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3372">
                <a:tc>
                  <a:txBody>
                    <a:bodyPr/>
                    <a:lstStyle/>
                    <a:p>
                      <a:pPr marL="152400" marR="50800" algn="l">
                        <a:lnSpc>
                          <a:spcPct val="100000"/>
                        </a:lnSpc>
                        <a:tabLst>
                          <a:tab pos="800100" algn="l"/>
                          <a:tab pos="91059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solidFill>
                            <a:srgbClr val="9A6947"/>
                          </a:solidFill>
                        </a:rPr>
                        <a:t>US </a:t>
                      </a:r>
                      <a:r>
                        <a:rPr sz="2400" dirty="0" err="1">
                          <a:solidFill>
                            <a:srgbClr val="9A6947"/>
                          </a:solidFill>
                        </a:rPr>
                        <a:t>SeaSat</a:t>
                      </a:r>
                      <a:r>
                        <a:rPr sz="2400" dirty="0">
                          <a:solidFill>
                            <a:srgbClr val="9A6947"/>
                          </a:solidFill>
                        </a:rPr>
                        <a:t> 1978 (110 days)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803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9A6947"/>
                          </a:solidFill>
                        </a:rPr>
                        <a:t>17/3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7018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9A6947"/>
                          </a:solidFill>
                        </a:rPr>
                        <a:t>24</a:t>
                      </a:r>
                    </a:p>
                  </a:txBody>
                  <a:tcPr marL="17859" marR="17859" marT="17859" marB="1785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2504">
                <a:tc>
                  <a:txBody>
                    <a:bodyPr/>
                    <a:lstStyle/>
                    <a:p>
                      <a:pPr marL="152400" marR="50800" algn="l">
                        <a:lnSpc>
                          <a:spcPct val="100000"/>
                        </a:lnSpc>
                        <a:tabLst>
                          <a:tab pos="800100" algn="l"/>
                          <a:tab pos="91059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solidFill>
                            <a:srgbClr val="9A6947"/>
                          </a:solidFill>
                        </a:rPr>
                        <a:t>Japanese JERS-1 1992-1998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803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9A6947"/>
                          </a:solidFill>
                        </a:rPr>
                        <a:t>44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7018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9A6947"/>
                          </a:solidFill>
                        </a:rPr>
                        <a:t>24</a:t>
                      </a:r>
                    </a:p>
                  </a:txBody>
                  <a:tcPr marL="17859" marR="17859" marT="17859" marB="1785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0042">
                <a:tc>
                  <a:txBody>
                    <a:bodyPr/>
                    <a:lstStyle/>
                    <a:p>
                      <a:pPr marL="152400" marR="50800" algn="l">
                        <a:lnSpc>
                          <a:spcPct val="100000"/>
                        </a:lnSpc>
                        <a:tabLst>
                          <a:tab pos="800100" algn="l"/>
                          <a:tab pos="91059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solidFill>
                            <a:srgbClr val="9A6947"/>
                          </a:solidFill>
                        </a:rPr>
                        <a:t>US Shuttle Imaging Radar–C (SIR-C) 1994 (2x 10-day flights)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803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solidFill>
                            <a:srgbClr val="9A6947"/>
                          </a:solidFill>
                        </a:rPr>
                        <a:t>1 day, 
6 months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7018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solidFill>
                            <a:srgbClr val="9A6947"/>
                          </a:solidFill>
                        </a:rPr>
                        <a:t>3, 6, 24</a:t>
                      </a:r>
                    </a:p>
                  </a:txBody>
                  <a:tcPr marL="17859" marR="17859" marT="17859" marB="1785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35BEEB-96A5-B3F7-2FAF-28981C93AF3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new SAR spacecraft"/>
          <p:cNvSpPr txBox="1">
            <a:spLocks noGrp="1"/>
          </p:cNvSpPr>
          <p:nvPr>
            <p:ph type="title"/>
          </p:nvPr>
        </p:nvSpPr>
        <p:spPr>
          <a:xfrm>
            <a:off x="2416969" y="-26789"/>
            <a:ext cx="7358063" cy="1026914"/>
          </a:xfrm>
          <a:prstGeom prst="rect">
            <a:avLst/>
          </a:prstGeom>
        </p:spPr>
        <p:txBody>
          <a:bodyPr/>
          <a:lstStyle>
            <a:lvl1pPr>
              <a:spcBef>
                <a:spcPts val="200"/>
              </a:spcBef>
            </a:lvl1pPr>
          </a:lstStyle>
          <a:p>
            <a:r>
              <a:t>new SAR spacecraft</a:t>
            </a:r>
          </a:p>
        </p:txBody>
      </p:sp>
      <p:graphicFrame>
        <p:nvGraphicFramePr>
          <p:cNvPr id="37" name="Table 1"/>
          <p:cNvGraphicFramePr/>
          <p:nvPr>
            <p:extLst>
              <p:ext uri="{D42A27DB-BD31-4B8C-83A1-F6EECF244321}">
                <p14:modId xmlns:p14="http://schemas.microsoft.com/office/powerpoint/2010/main" val="2255045140"/>
              </p:ext>
            </p:extLst>
          </p:nvPr>
        </p:nvGraphicFramePr>
        <p:xfrm>
          <a:off x="1657946" y="1107281"/>
          <a:ext cx="8876109" cy="5625898"/>
        </p:xfrm>
        <a:graphic>
          <a:graphicData uri="http://schemas.openxmlformats.org/drawingml/2006/table">
            <a:tbl>
              <a:tblPr/>
              <a:tblGrid>
                <a:gridCol w="6517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5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34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751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1066800" algn="l"/>
                          <a:tab pos="91059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solidFill>
                            <a:srgbClr val="9A6947"/>
                          </a:solidFill>
                        </a:rPr>
                        <a:t>satellite (launch)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803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9A6947"/>
                          </a:solidFill>
                        </a:rPr>
                        <a:t>repeat
cycle
(days)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7018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9A6947"/>
                          </a:solidFill>
                        </a:rPr>
                        <a:t>wave-length
(cm)</a:t>
                      </a:r>
                    </a:p>
                  </a:txBody>
                  <a:tcPr marL="17859" marR="17859" marT="17859" marB="1785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8688">
                <a:tc>
                  <a:txBody>
                    <a:bodyPr/>
                    <a:lstStyle/>
                    <a:p>
                      <a:pPr marL="152400" marR="50800" algn="l">
                        <a:lnSpc>
                          <a:spcPct val="100000"/>
                        </a:lnSpc>
                        <a:tabLst>
                          <a:tab pos="800100" algn="l"/>
                          <a:tab pos="91059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solidFill>
                            <a:srgbClr val="9A6947"/>
                          </a:solidFill>
                        </a:rPr>
                        <a:t>Copernicus Sentinel-1 (A: Apr. 2014</a:t>
                      </a:r>
                      <a:r>
                        <a:rPr lang="en-US" sz="2400" dirty="0">
                          <a:solidFill>
                            <a:srgbClr val="9A6947"/>
                          </a:solidFill>
                        </a:rPr>
                        <a:t>–June 2026</a:t>
                      </a:r>
                      <a:r>
                        <a:rPr sz="2400" dirty="0">
                          <a:solidFill>
                            <a:srgbClr val="9A6947"/>
                          </a:solidFill>
                        </a:rPr>
                        <a:t>, B: Apr. 2016</a:t>
                      </a:r>
                      <a:r>
                        <a:rPr lang="en-US" sz="2400" dirty="0">
                          <a:solidFill>
                            <a:srgbClr val="9A6947"/>
                          </a:solidFill>
                        </a:rPr>
                        <a:t>–Dec. 2021</a:t>
                      </a:r>
                      <a:r>
                        <a:rPr sz="2400" dirty="0">
                          <a:solidFill>
                            <a:srgbClr val="9A6947"/>
                          </a:solidFill>
                        </a:rPr>
                        <a:t>, C: </a:t>
                      </a:r>
                      <a:r>
                        <a:rPr lang="en-US" sz="2400" dirty="0">
                          <a:solidFill>
                            <a:srgbClr val="9A6947"/>
                          </a:solidFill>
                        </a:rPr>
                        <a:t>Dec. 2024, D: Nov. 2025</a:t>
                      </a:r>
                      <a:r>
                        <a:rPr sz="2400" dirty="0">
                          <a:solidFill>
                            <a:srgbClr val="9A6947"/>
                          </a:solidFill>
                        </a:rPr>
                        <a:t>)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803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9A6947"/>
                          </a:solidFill>
                        </a:rPr>
                        <a:t>12(6)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7018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9A6947"/>
                          </a:solidFill>
                        </a:rPr>
                        <a:t>6</a:t>
                      </a:r>
                    </a:p>
                  </a:txBody>
                  <a:tcPr marL="17859" marR="17859" marT="17859" marB="1785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8407">
                <a:tc>
                  <a:txBody>
                    <a:bodyPr/>
                    <a:lstStyle/>
                    <a:p>
                      <a:pPr marL="152400" marR="50800" algn="l">
                        <a:lnSpc>
                          <a:spcPct val="100000"/>
                        </a:lnSpc>
                        <a:tabLst>
                          <a:tab pos="800100" algn="l"/>
                          <a:tab pos="91059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solidFill>
                            <a:srgbClr val="9A6947"/>
                          </a:solidFill>
                        </a:rPr>
                        <a:t>Japanese ALOS-2 (May 2014)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803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9A6947"/>
                          </a:solidFill>
                        </a:rPr>
                        <a:t>14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7018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9A6947"/>
                          </a:solidFill>
                        </a:rPr>
                        <a:t>24</a:t>
                      </a:r>
                    </a:p>
                  </a:txBody>
                  <a:tcPr marL="17859" marR="17859" marT="17859" marB="1785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9257">
                <a:tc>
                  <a:txBody>
                    <a:bodyPr/>
                    <a:lstStyle/>
                    <a:p>
                      <a:pPr marL="152400" marR="50800" algn="l">
                        <a:lnSpc>
                          <a:spcPct val="100000"/>
                        </a:lnSpc>
                        <a:tabLst>
                          <a:tab pos="800100" algn="l"/>
                          <a:tab pos="91059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solidFill>
                            <a:srgbClr val="9A6947"/>
                          </a:solidFill>
                        </a:rPr>
                        <a:t>Indian RISAT-1 (Apr. 2012</a:t>
                      </a:r>
                      <a:r>
                        <a:rPr lang="en-US" sz="2400" dirty="0">
                          <a:solidFill>
                            <a:srgbClr val="9A6947"/>
                          </a:solidFill>
                        </a:rPr>
                        <a:t>–Sept. 2016</a:t>
                      </a:r>
                      <a:r>
                        <a:rPr sz="2400" dirty="0">
                          <a:solidFill>
                            <a:srgbClr val="9A6947"/>
                          </a:solidFill>
                        </a:rPr>
                        <a:t>)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803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solidFill>
                            <a:srgbClr val="9A6947"/>
                          </a:solidFill>
                        </a:rPr>
                        <a:t>25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7018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solidFill>
                            <a:srgbClr val="9A6947"/>
                          </a:solidFill>
                        </a:rPr>
                        <a:t>6</a:t>
                      </a:r>
                    </a:p>
                  </a:txBody>
                  <a:tcPr marL="17859" marR="17859" marT="17859" marB="1785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74374">
                <a:tc>
                  <a:txBody>
                    <a:bodyPr/>
                    <a:lstStyle/>
                    <a:p>
                      <a:pPr marL="152400" marR="50800" algn="l">
                        <a:lnSpc>
                          <a:spcPct val="100000"/>
                        </a:lnSpc>
                        <a:tabLst>
                          <a:tab pos="800100" algn="l"/>
                          <a:tab pos="91059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solidFill>
                            <a:srgbClr val="9A6947"/>
                          </a:solidFill>
                        </a:rPr>
                        <a:t>NASA-ISRO SAR (NISAR) mission (</a:t>
                      </a:r>
                      <a:r>
                        <a:rPr lang="en-US" sz="2400" dirty="0">
                          <a:solidFill>
                            <a:srgbClr val="9A6947"/>
                          </a:solidFill>
                        </a:rPr>
                        <a:t>July 2025</a:t>
                      </a:r>
                      <a:r>
                        <a:rPr sz="2400" dirty="0">
                          <a:solidFill>
                            <a:srgbClr val="9A6947"/>
                          </a:solidFill>
                        </a:rPr>
                        <a:t>)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803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solidFill>
                            <a:srgbClr val="9A6947"/>
                          </a:solidFill>
                        </a:rPr>
                        <a:t>12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7018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solidFill>
                            <a:srgbClr val="9A6947"/>
                          </a:solidFill>
                        </a:rPr>
                        <a:t>12,24</a:t>
                      </a:r>
                    </a:p>
                  </a:txBody>
                  <a:tcPr marL="17859" marR="17859" marT="17859" marB="1785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17B2CE-4D28-34C0-0A88-5FD11E16D88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New SAR satellites processing"/>
          <p:cNvSpPr txBox="1">
            <a:spLocks noGrp="1"/>
          </p:cNvSpPr>
          <p:nvPr>
            <p:ph type="title"/>
          </p:nvPr>
        </p:nvSpPr>
        <p:spPr>
          <a:xfrm>
            <a:off x="2202656" y="-80367"/>
            <a:ext cx="7786688" cy="1026914"/>
          </a:xfrm>
          <a:prstGeom prst="rect">
            <a:avLst/>
          </a:prstGeom>
        </p:spPr>
        <p:txBody>
          <a:bodyPr/>
          <a:lstStyle>
            <a:lvl1pPr>
              <a:spcBef>
                <a:spcPts val="200"/>
              </a:spcBef>
            </a:lvl1pPr>
          </a:lstStyle>
          <a:p>
            <a:r>
              <a:t>New SAR satellites processing</a:t>
            </a:r>
          </a:p>
        </p:txBody>
      </p:sp>
      <p:graphicFrame>
        <p:nvGraphicFramePr>
          <p:cNvPr id="40" name="Table 1"/>
          <p:cNvGraphicFramePr/>
          <p:nvPr>
            <p:extLst>
              <p:ext uri="{D42A27DB-BD31-4B8C-83A1-F6EECF244321}">
                <p14:modId xmlns:p14="http://schemas.microsoft.com/office/powerpoint/2010/main" val="375719071"/>
              </p:ext>
            </p:extLst>
          </p:nvPr>
        </p:nvGraphicFramePr>
        <p:xfrm>
          <a:off x="554359" y="946546"/>
          <a:ext cx="11490495" cy="5822892"/>
        </p:xfrm>
        <a:graphic>
          <a:graphicData uri="http://schemas.openxmlformats.org/drawingml/2006/table">
            <a:tbl>
              <a:tblPr bandRow="1"/>
              <a:tblGrid>
                <a:gridCol w="2803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72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99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9929">
                  <a:extLst>
                    <a:ext uri="{9D8B030D-6E8A-4147-A177-3AD203B41FA5}">
                      <a16:colId xmlns:a16="http://schemas.microsoft.com/office/drawing/2014/main" val="1582577174"/>
                    </a:ext>
                  </a:extLst>
                </a:gridCol>
              </a:tblGrid>
              <a:tr h="12622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1066800" algn="l"/>
                          <a:tab pos="9105900" algn="l"/>
                        </a:tabLst>
                        <a:defRPr sz="3200">
                          <a:solidFill>
                            <a:srgbClr val="9A6947"/>
                          </a:solidFill>
                        </a:defRPr>
                      </a:pPr>
                      <a:r>
                        <a:rPr lang="en-US" sz="2400" dirty="0"/>
                        <a:t>Satellite</a:t>
                      </a:r>
                      <a:endParaRPr sz="2400" dirty="0"/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803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solidFill>
                            <a:srgbClr val="9A6947"/>
                          </a:solidFill>
                        </a:rPr>
                        <a:t>Modes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7018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solidFill>
                            <a:srgbClr val="9A6947"/>
                          </a:solidFill>
                        </a:rPr>
                        <a:t>ISCE2 proc.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7018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400" dirty="0">
                          <a:solidFill>
                            <a:srgbClr val="9A6947"/>
                          </a:solidFill>
                        </a:rPr>
                        <a:t>ISCE3 proc.</a:t>
                      </a:r>
                      <a:endParaRPr sz="2400" dirty="0">
                        <a:solidFill>
                          <a:srgbClr val="9A6947"/>
                        </a:solidFill>
                      </a:endParaRPr>
                    </a:p>
                  </a:txBody>
                  <a:tcPr marL="17859" marR="17859" marT="17859" marB="1785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5429">
                <a:tc>
                  <a:txBody>
                    <a:bodyPr/>
                    <a:lstStyle/>
                    <a:p>
                      <a:pPr marL="152400" marR="50800" algn="l">
                        <a:lnSpc>
                          <a:spcPct val="100000"/>
                        </a:lnSpc>
                        <a:tabLst>
                          <a:tab pos="800100" algn="l"/>
                          <a:tab pos="91059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solidFill>
                            <a:srgbClr val="9A6947"/>
                          </a:solidFill>
                        </a:rPr>
                        <a:t>Sentinel-1A, B, C</a:t>
                      </a:r>
                      <a:r>
                        <a:rPr lang="en-US" sz="2400" dirty="0">
                          <a:solidFill>
                            <a:srgbClr val="9A6947"/>
                          </a:solidFill>
                        </a:rPr>
                        <a:t>, D</a:t>
                      </a:r>
                      <a:endParaRPr sz="2400" dirty="0">
                        <a:solidFill>
                          <a:srgbClr val="9A6947"/>
                        </a:solidFill>
                      </a:endParaRP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803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9A6947"/>
                          </a:solidFill>
                        </a:rPr>
                        <a:t>stripmap
TOPS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7018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solidFill>
                            <a:srgbClr val="9A6947"/>
                          </a:solidFill>
                        </a:rPr>
                        <a:t>strip: SLC (raw extra work)
TOPS: SLC</a:t>
                      </a:r>
                      <a:r>
                        <a:rPr lang="en-US" sz="2400" dirty="0">
                          <a:solidFill>
                            <a:srgbClr val="9A6947"/>
                          </a:solidFill>
                        </a:rPr>
                        <a:t> (</a:t>
                      </a:r>
                      <a:r>
                        <a:rPr lang="en-US" sz="2400" dirty="0" err="1">
                          <a:solidFill>
                            <a:srgbClr val="9A6947"/>
                          </a:solidFill>
                        </a:rPr>
                        <a:t>topsApp.py</a:t>
                      </a:r>
                      <a:r>
                        <a:rPr lang="en-US" sz="2400" dirty="0">
                          <a:solidFill>
                            <a:srgbClr val="9A6947"/>
                          </a:solidFill>
                        </a:rPr>
                        <a:t>)</a:t>
                      </a:r>
                      <a:endParaRPr sz="2400" dirty="0">
                        <a:solidFill>
                          <a:srgbClr val="9A6947"/>
                        </a:solidFill>
                      </a:endParaRP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7018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400" dirty="0">
                          <a:solidFill>
                            <a:srgbClr val="9A6947"/>
                          </a:solidFill>
                        </a:rPr>
                        <a:t>TOPS: SLC (COMPASS)</a:t>
                      </a:r>
                      <a:endParaRPr sz="2400" dirty="0">
                        <a:solidFill>
                          <a:srgbClr val="9A6947"/>
                        </a:solidFill>
                      </a:endParaRPr>
                    </a:p>
                  </a:txBody>
                  <a:tcPr marL="17859" marR="17859" marT="17859" marB="1785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90259">
                <a:tc>
                  <a:txBody>
                    <a:bodyPr/>
                    <a:lstStyle/>
                    <a:p>
                      <a:pPr marL="152400" marR="50800" algn="l">
                        <a:lnSpc>
                          <a:spcPct val="100000"/>
                        </a:lnSpc>
                        <a:tabLst>
                          <a:tab pos="800100" algn="l"/>
                          <a:tab pos="91059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solidFill>
                            <a:srgbClr val="9A6947"/>
                          </a:solidFill>
                        </a:rPr>
                        <a:t>ALOS-2</a:t>
                      </a:r>
                      <a:br>
                        <a:rPr lang="en-US" sz="2400" dirty="0">
                          <a:solidFill>
                            <a:srgbClr val="9A6947"/>
                          </a:solidFill>
                        </a:rPr>
                      </a:br>
                      <a:r>
                        <a:rPr lang="en-US" sz="2400" dirty="0">
                          <a:solidFill>
                            <a:srgbClr val="9A6947"/>
                          </a:solidFill>
                        </a:rPr>
                        <a:t>(alos2App.py, </a:t>
                      </a:r>
                      <a:r>
                        <a:rPr lang="en-US" sz="2400" dirty="0" err="1">
                          <a:solidFill>
                            <a:srgbClr val="9A6947"/>
                          </a:solidFill>
                        </a:rPr>
                        <a:t>alosStack</a:t>
                      </a:r>
                      <a:r>
                        <a:rPr lang="en-US" sz="2400" dirty="0">
                          <a:solidFill>
                            <a:srgbClr val="9A6947"/>
                          </a:solidFill>
                        </a:rPr>
                        <a:t>)</a:t>
                      </a:r>
                      <a:endParaRPr sz="2400" dirty="0">
                        <a:solidFill>
                          <a:srgbClr val="9A6947"/>
                        </a:solidFill>
                      </a:endParaRP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803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9A6947"/>
                          </a:solidFill>
                        </a:rPr>
                        <a:t>strip (3 types)
ScanSAR
Spotlight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7018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9A6947"/>
                          </a:solidFill>
                        </a:rPr>
                        <a:t>strip: SLC
ScanSAR: full-aperture SLC
Spotlight: SLC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7018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400" dirty="0">
                          <a:solidFill>
                            <a:srgbClr val="9A6947"/>
                          </a:solidFill>
                        </a:rPr>
                        <a:t>Strip: SLC (testing)</a:t>
                      </a:r>
                      <a:endParaRPr sz="2400" dirty="0">
                        <a:solidFill>
                          <a:srgbClr val="9A6947"/>
                        </a:solidFill>
                      </a:endParaRPr>
                    </a:p>
                  </a:txBody>
                  <a:tcPr marL="17859" marR="17859" marT="17859" marB="1785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1603">
                <a:tc>
                  <a:txBody>
                    <a:bodyPr/>
                    <a:lstStyle/>
                    <a:p>
                      <a:pPr marL="152400" marR="50800" algn="l">
                        <a:lnSpc>
                          <a:spcPct val="100000"/>
                        </a:lnSpc>
                        <a:tabLst>
                          <a:tab pos="800100" algn="l"/>
                          <a:tab pos="91059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solidFill>
                            <a:srgbClr val="9A6947"/>
                          </a:solidFill>
                        </a:rPr>
                        <a:t>RISAT-1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803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9A6947"/>
                          </a:solidFill>
                        </a:rPr>
                        <a:t>stripmap
ScanSAR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7018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solidFill>
                            <a:srgbClr val="9A6947"/>
                          </a:solidFill>
                        </a:rPr>
                        <a:t>strip: SLC, raw extra work
</a:t>
                      </a:r>
                      <a:r>
                        <a:rPr sz="2400" dirty="0" err="1">
                          <a:solidFill>
                            <a:srgbClr val="9A6947"/>
                          </a:solidFill>
                        </a:rPr>
                        <a:t>ScanSAR</a:t>
                      </a:r>
                      <a:r>
                        <a:rPr sz="2400" dirty="0">
                          <a:solidFill>
                            <a:srgbClr val="9A6947"/>
                          </a:solidFill>
                        </a:rPr>
                        <a:t>: no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7018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endParaRPr sz="2400" dirty="0">
                        <a:solidFill>
                          <a:srgbClr val="9A6947"/>
                        </a:solidFill>
                      </a:endParaRPr>
                    </a:p>
                  </a:txBody>
                  <a:tcPr marL="17859" marR="17859" marT="17859" marB="1785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5135F2-A338-DD37-D7C9-E1D9C81A96B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new SAR spacecraft"/>
          <p:cNvSpPr txBox="1">
            <a:spLocks noGrp="1"/>
          </p:cNvSpPr>
          <p:nvPr>
            <p:ph type="title"/>
          </p:nvPr>
        </p:nvSpPr>
        <p:spPr>
          <a:xfrm>
            <a:off x="2416969" y="-26789"/>
            <a:ext cx="7358063" cy="1026914"/>
          </a:xfrm>
          <a:prstGeom prst="rect">
            <a:avLst/>
          </a:prstGeom>
        </p:spPr>
        <p:txBody>
          <a:bodyPr/>
          <a:lstStyle>
            <a:lvl1pPr>
              <a:spcBef>
                <a:spcPts val="200"/>
              </a:spcBef>
            </a:lvl1pPr>
          </a:lstStyle>
          <a:p>
            <a:r>
              <a:rPr lang="en-US" dirty="0"/>
              <a:t>More n</a:t>
            </a:r>
            <a:r>
              <a:rPr dirty="0"/>
              <a:t>ew SAR spacecraft</a:t>
            </a:r>
          </a:p>
        </p:txBody>
      </p:sp>
      <p:graphicFrame>
        <p:nvGraphicFramePr>
          <p:cNvPr id="43" name="Table 1"/>
          <p:cNvGraphicFramePr/>
          <p:nvPr>
            <p:extLst>
              <p:ext uri="{D42A27DB-BD31-4B8C-83A1-F6EECF244321}">
                <p14:modId xmlns:p14="http://schemas.microsoft.com/office/powerpoint/2010/main" val="3193239703"/>
              </p:ext>
            </p:extLst>
          </p:nvPr>
        </p:nvGraphicFramePr>
        <p:xfrm>
          <a:off x="1657946" y="1107281"/>
          <a:ext cx="8876109" cy="5685329"/>
        </p:xfrm>
        <a:graphic>
          <a:graphicData uri="http://schemas.openxmlformats.org/drawingml/2006/table">
            <a:tbl>
              <a:tblPr/>
              <a:tblGrid>
                <a:gridCol w="6517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5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34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751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1066800" algn="l"/>
                          <a:tab pos="91059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solidFill>
                            <a:srgbClr val="9A6947"/>
                          </a:solidFill>
                        </a:rPr>
                        <a:t>satellite (launch or planned)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803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9A6947"/>
                          </a:solidFill>
                        </a:rPr>
                        <a:t>repeat
cycle
(days)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7018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9A6947"/>
                          </a:solidFill>
                        </a:rPr>
                        <a:t>wave-length
(cm)</a:t>
                      </a:r>
                    </a:p>
                  </a:txBody>
                  <a:tcPr marL="17859" marR="17859" marT="17859" marB="1785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8688">
                <a:tc>
                  <a:txBody>
                    <a:bodyPr/>
                    <a:lstStyle/>
                    <a:p>
                      <a:pPr marL="152400" marR="50800" algn="l">
                        <a:lnSpc>
                          <a:spcPct val="100000"/>
                        </a:lnSpc>
                        <a:tabLst>
                          <a:tab pos="800100" algn="l"/>
                          <a:tab pos="91059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solidFill>
                            <a:srgbClr val="9A6947"/>
                          </a:solidFill>
                        </a:rPr>
                        <a:t>Argentina SAOCOM-1 (A: Oct. 2018, B: Aug. 2020)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803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solidFill>
                            <a:srgbClr val="9A6947"/>
                          </a:solidFill>
                        </a:rPr>
                        <a:t>16(8)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7018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solidFill>
                            <a:srgbClr val="9A6947"/>
                          </a:solidFill>
                        </a:rPr>
                        <a:t>24</a:t>
                      </a:r>
                    </a:p>
                  </a:txBody>
                  <a:tcPr marL="17859" marR="17859" marT="17859" marB="1785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8407">
                <a:tc>
                  <a:txBody>
                    <a:bodyPr/>
                    <a:lstStyle/>
                    <a:p>
                      <a:pPr marL="152400" marR="50800" algn="l">
                        <a:lnSpc>
                          <a:spcPct val="100000"/>
                        </a:lnSpc>
                        <a:tabLst>
                          <a:tab pos="800100" algn="l"/>
                          <a:tab pos="91059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solidFill>
                            <a:srgbClr val="9A6947"/>
                          </a:solidFill>
                        </a:rPr>
                        <a:t>Japanese ALOS-4 (</a:t>
                      </a:r>
                      <a:r>
                        <a:rPr lang="en-US" sz="2400" dirty="0">
                          <a:solidFill>
                            <a:srgbClr val="9A6947"/>
                          </a:solidFill>
                        </a:rPr>
                        <a:t>June</a:t>
                      </a:r>
                      <a:r>
                        <a:rPr sz="2400" dirty="0">
                          <a:solidFill>
                            <a:srgbClr val="9A6947"/>
                          </a:solidFill>
                        </a:rPr>
                        <a:t> 2024)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803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9A6947"/>
                          </a:solidFill>
                        </a:rPr>
                        <a:t>14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7018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solidFill>
                            <a:srgbClr val="9A6947"/>
                          </a:solidFill>
                        </a:rPr>
                        <a:t>24</a:t>
                      </a:r>
                    </a:p>
                  </a:txBody>
                  <a:tcPr marL="17859" marR="17859" marT="17859" marB="1785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8688">
                <a:tc>
                  <a:txBody>
                    <a:bodyPr/>
                    <a:lstStyle/>
                    <a:p>
                      <a:pPr marL="152400" marR="50800" algn="l">
                        <a:lnSpc>
                          <a:spcPct val="100000"/>
                        </a:lnSpc>
                        <a:tabLst>
                          <a:tab pos="800100" algn="l"/>
                          <a:tab pos="91059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solidFill>
                            <a:srgbClr val="9A6947"/>
                          </a:solidFill>
                        </a:rPr>
                        <a:t>Italian COSMO-</a:t>
                      </a:r>
                      <a:r>
                        <a:rPr sz="2400" dirty="0" err="1">
                          <a:solidFill>
                            <a:srgbClr val="9A6947"/>
                          </a:solidFill>
                        </a:rPr>
                        <a:t>SkyMed</a:t>
                      </a:r>
                      <a:r>
                        <a:rPr sz="2400" dirty="0">
                          <a:solidFill>
                            <a:srgbClr val="9A6947"/>
                          </a:solidFill>
                        </a:rPr>
                        <a:t> 2nd Gen. (1: Dec. 2019, 2: Jan. 2022, 3:, 4:)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803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9A6947"/>
                          </a:solidFill>
                        </a:rPr>
                        <a:t>N/A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7018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solidFill>
                            <a:srgbClr val="9A6947"/>
                          </a:solidFill>
                        </a:rPr>
                        <a:t>3</a:t>
                      </a:r>
                    </a:p>
                  </a:txBody>
                  <a:tcPr marL="17859" marR="17859" marT="17859" marB="1785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74374">
                <a:tc>
                  <a:txBody>
                    <a:bodyPr/>
                    <a:lstStyle/>
                    <a:p>
                      <a:pPr marL="152400" marR="50800" algn="l">
                        <a:lnSpc>
                          <a:spcPts val="5000"/>
                        </a:lnSpc>
                        <a:tabLst>
                          <a:tab pos="800100" algn="l"/>
                          <a:tab pos="91059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solidFill>
                            <a:srgbClr val="9A6947"/>
                          </a:solidFill>
                        </a:rPr>
                        <a:t>Canadian RADARSAT Constellation Mission 3x (Jun. 2019)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ts val="5000"/>
                        </a:lnSpc>
                        <a:tabLst>
                          <a:tab pos="1130300" algn="l"/>
                          <a:tab pos="1803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000">
                          <a:solidFill>
                            <a:srgbClr val="9A6947"/>
                          </a:solidFill>
                        </a:rPr>
                        <a:t>4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ts val="5000"/>
                        </a:lnSpc>
                        <a:tabLst>
                          <a:tab pos="1130300" algn="l"/>
                          <a:tab pos="17018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000" dirty="0">
                          <a:solidFill>
                            <a:srgbClr val="9A6947"/>
                          </a:solidFill>
                        </a:rPr>
                        <a:t>6</a:t>
                      </a:r>
                    </a:p>
                  </a:txBody>
                  <a:tcPr marL="17859" marR="17859" marT="17859" marB="1785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8C438A-A9EA-C956-5BCC-F0D2C23BBEB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new SAR spacecraft"/>
          <p:cNvSpPr txBox="1">
            <a:spLocks noGrp="1"/>
          </p:cNvSpPr>
          <p:nvPr>
            <p:ph type="title"/>
          </p:nvPr>
        </p:nvSpPr>
        <p:spPr>
          <a:xfrm>
            <a:off x="2416969" y="-26789"/>
            <a:ext cx="7358063" cy="1026914"/>
          </a:xfrm>
          <a:prstGeom prst="rect">
            <a:avLst/>
          </a:prstGeom>
        </p:spPr>
        <p:txBody>
          <a:bodyPr/>
          <a:lstStyle>
            <a:lvl1pPr>
              <a:spcBef>
                <a:spcPts val="200"/>
              </a:spcBef>
            </a:lvl1pPr>
          </a:lstStyle>
          <a:p>
            <a:r>
              <a:rPr lang="en-US" dirty="0"/>
              <a:t>More </a:t>
            </a:r>
            <a:r>
              <a:rPr dirty="0"/>
              <a:t>new SAR spacecraft</a:t>
            </a:r>
          </a:p>
        </p:txBody>
      </p:sp>
      <p:graphicFrame>
        <p:nvGraphicFramePr>
          <p:cNvPr id="46" name="Table 1"/>
          <p:cNvGraphicFramePr/>
          <p:nvPr>
            <p:extLst>
              <p:ext uri="{D42A27DB-BD31-4B8C-83A1-F6EECF244321}">
                <p14:modId xmlns:p14="http://schemas.microsoft.com/office/powerpoint/2010/main" val="3756969811"/>
              </p:ext>
            </p:extLst>
          </p:nvPr>
        </p:nvGraphicFramePr>
        <p:xfrm>
          <a:off x="504498" y="1040525"/>
          <a:ext cx="11309132" cy="5654565"/>
        </p:xfrm>
        <a:graphic>
          <a:graphicData uri="http://schemas.openxmlformats.org/drawingml/2006/table">
            <a:tbl>
              <a:tblPr/>
              <a:tblGrid>
                <a:gridCol w="7819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5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36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750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1066800" algn="l"/>
                          <a:tab pos="91059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400" dirty="0">
                          <a:solidFill>
                            <a:srgbClr val="9A6947"/>
                          </a:solidFill>
                        </a:rPr>
                        <a:t>S</a:t>
                      </a:r>
                      <a:r>
                        <a:rPr sz="2400" dirty="0">
                          <a:solidFill>
                            <a:srgbClr val="9A6947"/>
                          </a:solidFill>
                        </a:rPr>
                        <a:t>atellite (launch or planned)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803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400" dirty="0">
                          <a:solidFill>
                            <a:srgbClr val="9A6947"/>
                          </a:solidFill>
                        </a:rPr>
                        <a:t>R</a:t>
                      </a:r>
                      <a:r>
                        <a:rPr sz="2400" dirty="0">
                          <a:solidFill>
                            <a:srgbClr val="9A6947"/>
                          </a:solidFill>
                        </a:rPr>
                        <a:t>epeat</a:t>
                      </a:r>
                      <a:r>
                        <a:rPr lang="en-US" sz="2400" dirty="0">
                          <a:solidFill>
                            <a:srgbClr val="9A6947"/>
                          </a:solidFill>
                        </a:rPr>
                        <a:t> </a:t>
                      </a:r>
                      <a:r>
                        <a:rPr sz="2400" dirty="0">
                          <a:solidFill>
                            <a:srgbClr val="9A6947"/>
                          </a:solidFill>
                        </a:rPr>
                        <a:t>cycle
(days)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7018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400" dirty="0">
                          <a:solidFill>
                            <a:srgbClr val="9A6947"/>
                          </a:solidFill>
                        </a:rPr>
                        <a:t>W</a:t>
                      </a:r>
                      <a:r>
                        <a:rPr sz="2400" dirty="0">
                          <a:solidFill>
                            <a:srgbClr val="9A6947"/>
                          </a:solidFill>
                        </a:rPr>
                        <a:t>avelength
(cm)</a:t>
                      </a:r>
                    </a:p>
                  </a:txBody>
                  <a:tcPr marL="17859" marR="17859" marT="17859" marB="17859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242">
                <a:tc>
                  <a:txBody>
                    <a:bodyPr/>
                    <a:lstStyle/>
                    <a:p>
                      <a:pPr marL="152400" marR="50800" algn="l">
                        <a:lnSpc>
                          <a:spcPct val="100000"/>
                        </a:lnSpc>
                        <a:tabLst>
                          <a:tab pos="800100" algn="l"/>
                          <a:tab pos="91059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9A6947"/>
                          </a:solidFill>
                        </a:rPr>
                        <a:t>South Korea KompSat-5 (2013-2022)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803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9A6947"/>
                          </a:solidFill>
                        </a:rPr>
                        <a:t>16(8)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7018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9A6947"/>
                          </a:solidFill>
                        </a:rPr>
                        <a:t>3</a:t>
                      </a:r>
                    </a:p>
                  </a:txBody>
                  <a:tcPr marL="17859" marR="17859" marT="17859" marB="1785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712">
                <a:tc>
                  <a:txBody>
                    <a:bodyPr/>
                    <a:lstStyle/>
                    <a:p>
                      <a:pPr marL="152400" marR="50800" algn="l">
                        <a:lnSpc>
                          <a:spcPct val="100000"/>
                        </a:lnSpc>
                        <a:tabLst>
                          <a:tab pos="800100" algn="l"/>
                          <a:tab pos="91059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9A6947"/>
                          </a:solidFill>
                        </a:rPr>
                        <a:t>Spanish PAZ (clone TerraSAR-X) (Feb. 2018)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803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9A6947"/>
                          </a:solidFill>
                        </a:rPr>
                        <a:t>11 (4,7)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7018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9A6947"/>
                          </a:solidFill>
                        </a:rPr>
                        <a:t>3</a:t>
                      </a:r>
                    </a:p>
                  </a:txBody>
                  <a:tcPr marL="17859" marR="17859" marT="17859" marB="1785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7693">
                <a:tc>
                  <a:txBody>
                    <a:bodyPr/>
                    <a:lstStyle/>
                    <a:p>
                      <a:pPr marL="152400" marR="50800" algn="l">
                        <a:lnSpc>
                          <a:spcPct val="100000"/>
                        </a:lnSpc>
                        <a:tabLst>
                          <a:tab pos="800100" algn="l"/>
                          <a:tab pos="91059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solidFill>
                            <a:srgbClr val="9A6947"/>
                          </a:solidFill>
                        </a:rPr>
                        <a:t>Capella-1 through -n (2018</a:t>
                      </a:r>
                      <a:r>
                        <a:rPr lang="en-US" sz="2400" dirty="0">
                          <a:solidFill>
                            <a:srgbClr val="9A6947"/>
                          </a:solidFill>
                        </a:rPr>
                        <a:t>–present</a:t>
                      </a:r>
                      <a:r>
                        <a:rPr sz="2400" dirty="0">
                          <a:solidFill>
                            <a:srgbClr val="9A6947"/>
                          </a:solidFill>
                        </a:rPr>
                        <a:t>)</a:t>
                      </a:r>
                      <a:r>
                        <a:rPr lang="en-US" sz="2400" dirty="0">
                          <a:solidFill>
                            <a:srgbClr val="9A6947"/>
                          </a:solidFill>
                        </a:rPr>
                        <a:t> some InSAR-capable</a:t>
                      </a:r>
                      <a:endParaRPr sz="2400" dirty="0">
                        <a:solidFill>
                          <a:srgbClr val="9A6947"/>
                        </a:solidFill>
                      </a:endParaRP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803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400" dirty="0">
                          <a:solidFill>
                            <a:srgbClr val="9A6947"/>
                          </a:solidFill>
                        </a:rPr>
                        <a:t>?</a:t>
                      </a:r>
                      <a:endParaRPr sz="2400" dirty="0">
                        <a:solidFill>
                          <a:srgbClr val="9A6947"/>
                        </a:solidFill>
                      </a:endParaRP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7018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9A6947"/>
                          </a:solidFill>
                        </a:rPr>
                        <a:t>3</a:t>
                      </a:r>
                    </a:p>
                  </a:txBody>
                  <a:tcPr marL="17859" marR="17859" marT="17859" marB="1785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9549">
                <a:tc>
                  <a:txBody>
                    <a:bodyPr/>
                    <a:lstStyle/>
                    <a:p>
                      <a:pPr marL="152400" marR="50800" algn="l">
                        <a:lnSpc>
                          <a:spcPct val="100000"/>
                        </a:lnSpc>
                        <a:tabLst>
                          <a:tab pos="800100" algn="l"/>
                          <a:tab pos="91059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solidFill>
                            <a:srgbClr val="9A6947"/>
                          </a:solidFill>
                        </a:rPr>
                        <a:t>ICEYE ~</a:t>
                      </a:r>
                      <a:r>
                        <a:rPr lang="en-US" sz="2400" dirty="0">
                          <a:solidFill>
                            <a:srgbClr val="9A6947"/>
                          </a:solidFill>
                        </a:rPr>
                        <a:t>40 operational</a:t>
                      </a:r>
                      <a:r>
                        <a:rPr sz="2400" dirty="0">
                          <a:solidFill>
                            <a:srgbClr val="9A6947"/>
                          </a:solidFill>
                        </a:rPr>
                        <a:t> satellites now (</a:t>
                      </a:r>
                      <a:r>
                        <a:rPr lang="en-US" sz="2400" dirty="0">
                          <a:solidFill>
                            <a:srgbClr val="9A6947"/>
                          </a:solidFill>
                        </a:rPr>
                        <a:t>in July 2026</a:t>
                      </a:r>
                      <a:r>
                        <a:rPr sz="2400" dirty="0">
                          <a:solidFill>
                            <a:srgbClr val="9A6947"/>
                          </a:solidFill>
                        </a:rPr>
                        <a:t>)
some satellites have 1-day separation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803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9A6947"/>
                          </a:solidFill>
                        </a:rPr>
                        <a:t>1</a:t>
                      </a: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7018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solidFill>
                            <a:srgbClr val="9A6947"/>
                          </a:solidFill>
                        </a:rPr>
                        <a:t>3</a:t>
                      </a:r>
                    </a:p>
                  </a:txBody>
                  <a:tcPr marL="17859" marR="17859" marT="17859" marB="17859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51770">
                <a:tc>
                  <a:txBody>
                    <a:bodyPr/>
                    <a:lstStyle/>
                    <a:p>
                      <a:pPr marL="152400" marR="50800" algn="l">
                        <a:lnSpc>
                          <a:spcPct val="100000"/>
                        </a:lnSpc>
                        <a:tabLst>
                          <a:tab pos="800100" algn="l"/>
                          <a:tab pos="91059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400" dirty="0">
                          <a:solidFill>
                            <a:srgbClr val="9A6947"/>
                          </a:solidFill>
                        </a:rPr>
                        <a:t>Umbra 24 satellites planned (first launched 2021), no InSAR yet</a:t>
                      </a:r>
                      <a:endParaRPr sz="2400" dirty="0">
                        <a:solidFill>
                          <a:srgbClr val="9A6947"/>
                        </a:solidFill>
                      </a:endParaRP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803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400" dirty="0">
                          <a:solidFill>
                            <a:srgbClr val="9A6947"/>
                          </a:solidFill>
                        </a:rPr>
                        <a:t>N/A</a:t>
                      </a:r>
                      <a:endParaRPr sz="2400" dirty="0">
                        <a:solidFill>
                          <a:srgbClr val="9A6947"/>
                        </a:solidFill>
                      </a:endParaRP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7018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400" dirty="0">
                          <a:solidFill>
                            <a:srgbClr val="9A6947"/>
                          </a:solidFill>
                        </a:rPr>
                        <a:t>3</a:t>
                      </a:r>
                      <a:endParaRPr sz="2400" dirty="0">
                        <a:solidFill>
                          <a:srgbClr val="9A6947"/>
                        </a:solidFill>
                      </a:endParaRPr>
                    </a:p>
                  </a:txBody>
                  <a:tcPr marL="17859" marR="17859" marT="17859" marB="17859" anchor="ctr" horzOverflow="overflow"/>
                </a:tc>
                <a:extLst>
                  <a:ext uri="{0D108BD9-81ED-4DB2-BD59-A6C34878D82A}">
                    <a16:rowId xmlns:a16="http://schemas.microsoft.com/office/drawing/2014/main" val="4094582360"/>
                  </a:ext>
                </a:extLst>
              </a:tr>
              <a:tr h="1272563">
                <a:tc>
                  <a:txBody>
                    <a:bodyPr/>
                    <a:lstStyle/>
                    <a:p>
                      <a:pPr marL="152400" marR="50800" algn="l">
                        <a:lnSpc>
                          <a:spcPct val="100000"/>
                        </a:lnSpc>
                        <a:tabLst>
                          <a:tab pos="800100" algn="l"/>
                          <a:tab pos="91059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400" dirty="0">
                          <a:solidFill>
                            <a:srgbClr val="9A6947"/>
                          </a:solidFill>
                        </a:rPr>
                        <a:t>Several other countries and companies have launched SAR and InSAR-capable satellites</a:t>
                      </a:r>
                      <a:endParaRPr sz="2400" dirty="0">
                        <a:solidFill>
                          <a:srgbClr val="9A6947"/>
                        </a:solidFill>
                      </a:endParaRP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8034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endParaRPr sz="2400" dirty="0">
                        <a:solidFill>
                          <a:srgbClr val="9A6947"/>
                        </a:solidFill>
                      </a:endParaRPr>
                    </a:p>
                  </a:txBody>
                  <a:tcPr marL="17859" marR="17859" marT="17859" marB="17859" anchor="ctr" horzOverflow="overflow"/>
                </a:tc>
                <a:tc>
                  <a:txBody>
                    <a:bodyPr/>
                    <a:lstStyle/>
                    <a:p>
                      <a:pPr marL="63500" marR="50800">
                        <a:lnSpc>
                          <a:spcPct val="100000"/>
                        </a:lnSpc>
                        <a:tabLst>
                          <a:tab pos="1130300" algn="l"/>
                          <a:tab pos="1701800" algn="l"/>
                        </a:tabLst>
                        <a:defRPr sz="1800">
                          <a:solidFill>
                            <a:srgbClr val="000000"/>
                          </a:solidFill>
                        </a:defRPr>
                      </a:pPr>
                      <a:endParaRPr sz="2400" dirty="0">
                        <a:solidFill>
                          <a:srgbClr val="9A6947"/>
                        </a:solidFill>
                      </a:endParaRPr>
                    </a:p>
                  </a:txBody>
                  <a:tcPr marL="17859" marR="17859" marT="17859" marB="17859" anchor="ctr" horzOverflow="overflow"/>
                </a:tc>
                <a:extLst>
                  <a:ext uri="{0D108BD9-81ED-4DB2-BD59-A6C34878D82A}">
                    <a16:rowId xmlns:a16="http://schemas.microsoft.com/office/drawing/2014/main" val="2419392850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EE601E-45DF-B79E-DE55-E99FA7C21E5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00FDCA2-4A4B-3344-A4C9-9FBB468FA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486" y="14945"/>
            <a:ext cx="6874846" cy="706673"/>
          </a:xfr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 sz="2800" dirty="0"/>
              <a:t>It is time to get ready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3651DB3-5F97-0C40-B7BE-CFEB2E8EC16C}"/>
              </a:ext>
            </a:extLst>
          </p:cNvPr>
          <p:cNvSpPr txBox="1">
            <a:spLocks/>
          </p:cNvSpPr>
          <p:nvPr/>
        </p:nvSpPr>
        <p:spPr>
          <a:xfrm>
            <a:off x="4451684" y="1126660"/>
            <a:ext cx="7397416" cy="52296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87338" indent="-277813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400"/>
              </a:spcAft>
              <a:buClr>
                <a:srgbClr val="1287D8"/>
              </a:buClr>
              <a:buSzPct val="130000"/>
              <a:buFont typeface="Arial" panose="020B0604020202020204" pitchFamily="34" charset="0"/>
              <a:buChar char="•"/>
              <a:tabLst>
                <a:tab pos="310896" algn="l"/>
              </a:tabLst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49224" marR="0" indent="-301752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400"/>
              </a:spcAft>
              <a:buClr>
                <a:srgbClr val="1287D8"/>
              </a:buClr>
              <a:buSzTx/>
              <a:buFont typeface="System Font Regular"/>
              <a:buChar char="–"/>
              <a:tabLst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58850" indent="-265113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400"/>
              </a:spcAft>
              <a:buClr>
                <a:srgbClr val="1287D8"/>
              </a:buClr>
              <a:buSzPct val="60000"/>
              <a:buFont typeface=".Lucida Grande UI Regular"/>
              <a:buChar char="◆"/>
              <a:tabLst>
                <a:tab pos="1279525" algn="l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25880" indent="-317500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400"/>
              </a:spcAft>
              <a:buClr>
                <a:srgbClr val="1287D8"/>
              </a:buClr>
              <a:buFont typeface="Wingdings" pitchFamily="2" charset="2"/>
              <a:buChar char="§"/>
              <a:tabLst>
                <a:tab pos="164592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600200" indent="-274320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400"/>
              </a:spcAft>
              <a:buClr>
                <a:srgbClr val="1287D8"/>
              </a:buClr>
              <a:buFont typeface="Arial" panose="020B0604020202020204" pitchFamily="34" charset="0"/>
              <a:buChar char="•"/>
              <a:tabLst>
                <a:tab pos="1874520" algn="l"/>
              </a:tabLs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  <a:spcBef>
                <a:spcPts val="1800"/>
              </a:spcBef>
              <a:spcAft>
                <a:spcPts val="0"/>
              </a:spcAft>
              <a:buClr>
                <a:srgbClr val="0166AE"/>
              </a:buClr>
            </a:pPr>
            <a:r>
              <a:rPr lang="en-US" sz="2400" dirty="0"/>
              <a:t>NISAR launched July 30, 2025!!</a:t>
            </a:r>
          </a:p>
          <a:p>
            <a:pPr>
              <a:lnSpc>
                <a:spcPct val="85000"/>
              </a:lnSpc>
              <a:spcBef>
                <a:spcPts val="1800"/>
              </a:spcBef>
              <a:spcAft>
                <a:spcPts val="0"/>
              </a:spcAft>
              <a:buClr>
                <a:srgbClr val="0166AE"/>
              </a:buClr>
            </a:pPr>
            <a:r>
              <a:rPr lang="en-US" sz="2400" dirty="0"/>
              <a:t>First light images ~2 months after launch</a:t>
            </a:r>
          </a:p>
          <a:p>
            <a:pPr>
              <a:lnSpc>
                <a:spcPct val="85000"/>
              </a:lnSpc>
              <a:spcBef>
                <a:spcPts val="1800"/>
              </a:spcBef>
              <a:spcAft>
                <a:spcPts val="0"/>
              </a:spcAft>
              <a:buClr>
                <a:srgbClr val="0166AE"/>
              </a:buClr>
            </a:pPr>
            <a:r>
              <a:rPr lang="en-US" sz="2400" dirty="0"/>
              <a:t>Science mode active ~3 months after launch</a:t>
            </a:r>
          </a:p>
          <a:p>
            <a:pPr>
              <a:lnSpc>
                <a:spcPct val="85000"/>
              </a:lnSpc>
              <a:spcBef>
                <a:spcPts val="1800"/>
              </a:spcBef>
              <a:spcAft>
                <a:spcPts val="0"/>
              </a:spcAft>
              <a:buClr>
                <a:srgbClr val="0166AE"/>
              </a:buClr>
            </a:pPr>
            <a:r>
              <a:rPr lang="en-US" sz="2400" dirty="0"/>
              <a:t>Full science operations December 2025</a:t>
            </a:r>
          </a:p>
          <a:p>
            <a:pPr>
              <a:lnSpc>
                <a:spcPct val="85000"/>
              </a:lnSpc>
              <a:spcBef>
                <a:spcPts val="1800"/>
              </a:spcBef>
              <a:spcAft>
                <a:spcPts val="0"/>
              </a:spcAft>
              <a:buClr>
                <a:srgbClr val="0166AE"/>
              </a:buClr>
            </a:pPr>
            <a:r>
              <a:rPr lang="en-US" sz="2400" dirty="0"/>
              <a:t>Global products to Level 2 are fully and openly available to the global community since July 2026</a:t>
            </a:r>
          </a:p>
          <a:p>
            <a:pPr>
              <a:lnSpc>
                <a:spcPct val="85000"/>
              </a:lnSpc>
              <a:spcBef>
                <a:spcPts val="1800"/>
              </a:spcBef>
              <a:spcAft>
                <a:spcPts val="0"/>
              </a:spcAft>
              <a:buClr>
                <a:srgbClr val="0166AE"/>
              </a:buClr>
            </a:pPr>
            <a:r>
              <a:rPr lang="en-US" sz="2400" dirty="0"/>
              <a:t>Broad scientific and applied uses</a:t>
            </a:r>
          </a:p>
          <a:p>
            <a:pPr>
              <a:lnSpc>
                <a:spcPct val="85000"/>
              </a:lnSpc>
              <a:spcBef>
                <a:spcPts val="1800"/>
              </a:spcBef>
              <a:spcAft>
                <a:spcPts val="0"/>
              </a:spcAft>
              <a:buClr>
                <a:srgbClr val="0166AE"/>
              </a:buClr>
            </a:pPr>
            <a:r>
              <a:rPr lang="en-US" sz="2400" dirty="0"/>
              <a:t>Cloud-based data, tools and services facilitate access and use</a:t>
            </a:r>
          </a:p>
          <a:p>
            <a:pPr>
              <a:lnSpc>
                <a:spcPct val="85000"/>
              </a:lnSpc>
              <a:spcBef>
                <a:spcPts val="1800"/>
              </a:spcBef>
              <a:spcAft>
                <a:spcPts val="0"/>
              </a:spcAft>
              <a:buClr>
                <a:srgbClr val="0166AE"/>
              </a:buClr>
            </a:pPr>
            <a:r>
              <a:rPr lang="en-US" sz="2400" dirty="0"/>
              <a:t>Data processed and stored in Amazon cloud (AWS)</a:t>
            </a:r>
          </a:p>
          <a:p>
            <a:pPr>
              <a:lnSpc>
                <a:spcPct val="85000"/>
              </a:lnSpc>
              <a:spcBef>
                <a:spcPts val="1800"/>
              </a:spcBef>
              <a:spcAft>
                <a:spcPts val="0"/>
              </a:spcAft>
              <a:buClr>
                <a:srgbClr val="0166AE"/>
              </a:buClr>
            </a:pPr>
            <a:endParaRPr lang="en-US" sz="2400" dirty="0"/>
          </a:p>
          <a:p>
            <a:pPr>
              <a:lnSpc>
                <a:spcPct val="85000"/>
              </a:lnSpc>
              <a:spcBef>
                <a:spcPts val="1800"/>
              </a:spcBef>
              <a:spcAft>
                <a:spcPts val="0"/>
              </a:spcAft>
              <a:buClr>
                <a:srgbClr val="0166AE"/>
              </a:buClr>
            </a:pP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68A72A-669A-5341-A8A4-A8559CA31F7E}"/>
              </a:ext>
            </a:extLst>
          </p:cNvPr>
          <p:cNvSpPr txBox="1"/>
          <p:nvPr/>
        </p:nvSpPr>
        <p:spPr>
          <a:xfrm>
            <a:off x="5722302" y="5843387"/>
            <a:ext cx="61833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more information: </a:t>
            </a:r>
            <a:r>
              <a:rPr lang="en-US" b="1" i="1" dirty="0">
                <a:hlinkClick r:id="rId2"/>
              </a:rPr>
              <a:t>https://science.nasa.gov/mission/nisar/</a:t>
            </a:r>
            <a:endParaRPr lang="en-US" b="1" i="1" dirty="0"/>
          </a:p>
          <a:p>
            <a:r>
              <a:rPr lang="en-US" i="1"/>
              <a:t>News </a:t>
            </a:r>
            <a:r>
              <a:rPr lang="en-US" i="1" dirty="0"/>
              <a:t>u</a:t>
            </a:r>
            <a:r>
              <a:rPr lang="en-US" i="1"/>
              <a:t>pdates</a:t>
            </a:r>
            <a:r>
              <a:rPr lang="en-US" b="1" i="1" dirty="0"/>
              <a:t>: </a:t>
            </a:r>
            <a:r>
              <a:rPr lang="en-US" b="1" i="1" dirty="0">
                <a:hlinkClick r:id="rId3"/>
              </a:rPr>
              <a:t>https://science.nasa.gov/blogs/nisar/</a:t>
            </a:r>
            <a:endParaRPr lang="en-US" b="1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05CEC7-821A-6B59-B18C-46DCF3C6531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900" y="1085057"/>
            <a:ext cx="3603107" cy="540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221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D46A202-ED53-3649-B7F9-F6D103A33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Open-Source Science for NISAR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7377BFD-561F-6E46-A0E6-E83567FF6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376" y="1121664"/>
            <a:ext cx="11437540" cy="5376672"/>
          </a:xfrm>
        </p:spPr>
        <p:txBody>
          <a:bodyPr>
            <a:normAutofit/>
          </a:bodyPr>
          <a:lstStyle/>
          <a:p>
            <a:pPr marL="285750" indent="-285750"/>
            <a:r>
              <a:rPr lang="en-US" sz="2400" dirty="0">
                <a:solidFill>
                  <a:schemeClr val="tx1"/>
                </a:solidFill>
              </a:rPr>
              <a:t>Science products </a:t>
            </a:r>
          </a:p>
          <a:p>
            <a:pPr marL="742950" lvl="1" indent="-285750"/>
            <a:r>
              <a:rPr lang="en-US" sz="2000" dirty="0"/>
              <a:t>ASF Vertex and </a:t>
            </a:r>
            <a:r>
              <a:rPr lang="en-US" sz="2000" dirty="0" err="1"/>
              <a:t>EarthData</a:t>
            </a:r>
            <a:r>
              <a:rPr lang="en-US" sz="2000" dirty="0"/>
              <a:t> searchable</a:t>
            </a:r>
            <a:endParaRPr lang="en-US" sz="2000" dirty="0">
              <a:solidFill>
                <a:schemeClr val="tx1"/>
              </a:solidFill>
            </a:endParaRPr>
          </a:p>
          <a:p>
            <a:pPr marL="742950" lvl="1" indent="-285750"/>
            <a:r>
              <a:rPr lang="en-US" sz="2000" dirty="0">
                <a:solidFill>
                  <a:schemeClr val="tx1"/>
                </a:solidFill>
              </a:rPr>
              <a:t>NISAR HDF5 specification: </a:t>
            </a:r>
            <a:r>
              <a:rPr lang="en-US" sz="2000" dirty="0">
                <a:hlinkClick r:id="rId3"/>
              </a:rPr>
              <a:t>https://science.nasa.gov/mission/nisar/data/</a:t>
            </a: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Open Source Software – SDS and data processing code available for download</a:t>
            </a:r>
          </a:p>
          <a:p>
            <a:pPr marL="742950" lvl="1" indent="-285750"/>
            <a:r>
              <a:rPr lang="en-US" sz="1800" dirty="0" err="1"/>
              <a:t>InSAR</a:t>
            </a:r>
            <a:r>
              <a:rPr lang="en-US" sz="1800" dirty="0"/>
              <a:t> Scientific Computing Environment, Enhanced Edition (ISCE3): </a:t>
            </a:r>
            <a:r>
              <a:rPr lang="en-US" sz="1800" u="sng" dirty="0">
                <a:solidFill>
                  <a:schemeClr val="hlink"/>
                </a:solidFill>
                <a:hlinkClick r:id="rId4"/>
              </a:rPr>
              <a:t>https://github.com/isce-framework/isce3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Open Source Science algorithms for science products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 err="1"/>
              <a:t>Jupyter</a:t>
            </a:r>
            <a:r>
              <a:rPr lang="en-US" sz="1800" dirty="0"/>
              <a:t> notebooks available for download: </a:t>
            </a:r>
            <a:r>
              <a:rPr lang="en-US" sz="1800" u="sng" dirty="0">
                <a:solidFill>
                  <a:schemeClr val="hlink"/>
                </a:solidFill>
              </a:rPr>
              <a:t>https://</a:t>
            </a:r>
            <a:r>
              <a:rPr lang="en-US" sz="1800" u="sng" dirty="0" err="1">
                <a:solidFill>
                  <a:schemeClr val="hlink"/>
                </a:solidFill>
              </a:rPr>
              <a:t>gitlab.com</a:t>
            </a:r>
            <a:r>
              <a:rPr lang="en-US" sz="1800" u="sng" dirty="0">
                <a:solidFill>
                  <a:schemeClr val="hlink"/>
                </a:solidFill>
              </a:rPr>
              <a:t>/</a:t>
            </a:r>
            <a:r>
              <a:rPr lang="en-US" sz="1800" u="sng" dirty="0" err="1">
                <a:solidFill>
                  <a:schemeClr val="hlink"/>
                </a:solidFill>
              </a:rPr>
              <a:t>nisar</a:t>
            </a:r>
            <a:r>
              <a:rPr lang="en-US" sz="1800" u="sng" dirty="0">
                <a:solidFill>
                  <a:schemeClr val="hlink"/>
                </a:solidFill>
              </a:rPr>
              <a:t>-science-algorithms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Open Source Training Opportunities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Jupyter</a:t>
            </a:r>
            <a:r>
              <a:rPr lang="en-US" dirty="0"/>
              <a:t> notebooks in cloud training environments at Alaska Satellite Facility </a:t>
            </a:r>
            <a:r>
              <a:rPr lang="en-US" dirty="0" err="1"/>
              <a:t>OpenScienceLab</a:t>
            </a:r>
            <a:endParaRPr lang="en-US" dirty="0"/>
          </a:p>
          <a:p>
            <a:pPr marL="742950" lvl="1" indent="-285750"/>
            <a:r>
              <a:rPr lang="en-US" dirty="0"/>
              <a:t>ARSET and other courses: </a:t>
            </a:r>
            <a:r>
              <a:rPr lang="en-US" sz="1800" u="sng" dirty="0">
                <a:solidFill>
                  <a:schemeClr val="hlink"/>
                </a:solidFill>
                <a:hlinkClick r:id="rId5"/>
              </a:rPr>
              <a:t>https://science.nasa.gov/mission/nisar/sar-education-resources/</a:t>
            </a:r>
            <a:endParaRPr lang="en-US" sz="1800" u="sng" dirty="0">
              <a:solidFill>
                <a:schemeClr val="hlink"/>
              </a:solidFill>
            </a:endParaRPr>
          </a:p>
          <a:p>
            <a:pPr marL="742950" lvl="1" indent="-285750"/>
            <a:r>
              <a:rPr lang="en-US" sz="2400" dirty="0"/>
              <a:t>C</a:t>
            </a:r>
            <a:r>
              <a:rPr lang="en-US" sz="2400" dirty="0">
                <a:solidFill>
                  <a:schemeClr val="tx1"/>
                </a:solidFill>
              </a:rPr>
              <a:t>loud computing resources for NASA subscribers</a:t>
            </a:r>
          </a:p>
        </p:txBody>
      </p:sp>
    </p:spTree>
    <p:extLst>
      <p:ext uri="{BB962C8B-B14F-4D97-AF65-F5344CB8AC3E}">
        <p14:creationId xmlns:p14="http://schemas.microsoft.com/office/powerpoint/2010/main" val="3475682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ain NISAR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16944</TotalTime>
  <Words>961</Words>
  <Application>Microsoft Macintosh PowerPoint</Application>
  <PresentationFormat>Widescreen</PresentationFormat>
  <Paragraphs>183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Narrow</vt:lpstr>
      <vt:lpstr>Calibri</vt:lpstr>
      <vt:lpstr>Tahoma</vt:lpstr>
      <vt:lpstr>Main NISAR</vt:lpstr>
      <vt:lpstr>PowerPoint Presentation</vt:lpstr>
      <vt:lpstr>Classic SAR satellites</vt:lpstr>
      <vt:lpstr>SAR satellites processing</vt:lpstr>
      <vt:lpstr>other SAR spacecraft</vt:lpstr>
      <vt:lpstr>new SAR spacecraft</vt:lpstr>
      <vt:lpstr>New SAR satellites processing</vt:lpstr>
      <vt:lpstr>More new SAR spacecraft</vt:lpstr>
      <vt:lpstr>More new SAR spacecraft</vt:lpstr>
      <vt:lpstr>It is time to get ready</vt:lpstr>
      <vt:lpstr>Open-Source Science for NISAR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Fielding, Eric J (US 321G)</cp:lastModifiedBy>
  <cp:revision>201</cp:revision>
  <cp:lastPrinted>2014-07-14T23:49:38Z</cp:lastPrinted>
  <dcterms:created xsi:type="dcterms:W3CDTF">2017-04-03T17:58:47Z</dcterms:created>
  <dcterms:modified xsi:type="dcterms:W3CDTF">2026-08-06T04:27:13Z</dcterms:modified>
</cp:coreProperties>
</file>